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863840" y="1005840"/>
            <a:ext cx="1188720" cy="1188720"/>
          </a:xfrm>
          <a:prstGeom prst="rect">
            <a:avLst/>
          </a:prstGeom>
          <a:noFill/>
          <a:ln w="12700">
            <a:solidFill>
              <a:srgbClr val="334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19" y="1005840"/>
            <a:ext cx="1188720" cy="1188720"/>
          </a:xfrm>
          <a:prstGeom prst="rect">
            <a:avLst/>
          </a:prstGeom>
          <a:noFill/>
          <a:ln w="12700">
            <a:solidFill>
              <a:srgbClr val="334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0" y="1005840"/>
            <a:ext cx="1188720" cy="1188720"/>
          </a:xfrm>
          <a:prstGeom prst="rect">
            <a:avLst/>
          </a:prstGeom>
          <a:noFill/>
          <a:ln w="12700">
            <a:solidFill>
              <a:srgbClr val="334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0" y="2331720"/>
            <a:ext cx="1188720" cy="1188720"/>
          </a:xfrm>
          <a:prstGeom prst="rect">
            <a:avLst/>
          </a:prstGeom>
          <a:noFill/>
          <a:ln w="12700">
            <a:solidFill>
              <a:srgbClr val="334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89719" y="2331720"/>
            <a:ext cx="1188720" cy="1188720"/>
          </a:xfrm>
          <a:prstGeom prst="rect">
            <a:avLst/>
          </a:prstGeom>
          <a:noFill/>
          <a:ln w="12700">
            <a:solidFill>
              <a:srgbClr val="334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0" y="2331720"/>
            <a:ext cx="1188720" cy="1188720"/>
          </a:xfrm>
          <a:prstGeom prst="rect">
            <a:avLst/>
          </a:prstGeom>
          <a:noFill/>
          <a:ln w="12700">
            <a:solidFill>
              <a:srgbClr val="334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54480"/>
            <a:ext cx="7772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C28B"/>
                </a:solidFill>
                <a:latin typeface="맑은 고딕"/>
                <a:ea typeface="맑은 고딕"/>
              </a:rPr>
              <a:t>국방 시공간 지식그래프 · 개체정합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57400"/>
            <a:ext cx="868680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맑은 고딕"/>
                <a:ea typeface="맑은 고딕"/>
              </a:rPr>
              <a:t>CITA-Net</a:t>
            </a:r>
          </a:p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맑은 고딕"/>
                <a:ea typeface="맑은 고딕"/>
              </a:rPr>
              <a:t>제약-인지 전이 어텐션 기반</a:t>
            </a:r>
          </a:p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맑은 고딕"/>
                <a:ea typeface="맑은 고딕"/>
              </a:rPr>
              <a:t>다중 정보망 전장 개체정합 신경망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8229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CFDAE8"/>
                </a:solidFill>
                <a:latin typeface="맑은 고딕"/>
                <a:ea typeface="맑은 고딕"/>
              </a:rPr>
              <a:t>백마고지(Hill 395) 전투 시나리오 기반 실험</a:t>
            </a:r>
          </a:p>
          <a:p>
            <a:pPr algn="l">
              <a:spcAft>
                <a:spcPts val="200"/>
              </a:spcAft>
            </a:pPr>
            <a:r>
              <a:rPr sz="1300" b="0" i="1">
                <a:solidFill>
                  <a:srgbClr val="9FB2C8"/>
                </a:solidFill>
                <a:latin typeface="맑은 고딕"/>
                <a:ea typeface="맑은 고딕"/>
              </a:rPr>
              <a:t>Constraint-aware Identity-Trajectory Alignment Network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5440680"/>
            <a:ext cx="2926080" cy="36576"/>
          </a:xfrm>
          <a:prstGeom prst="rect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623560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AFC0D4"/>
                </a:solidFill>
                <a:latin typeface="맑은 고딕"/>
                <a:ea typeface="맑은 고딕"/>
              </a:rPr>
              <a:t>데이터셋 1,005,101 트리플 · 75 섹터 · Full CITA-Net (M3)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241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686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2C28B"/>
                </a:solidFill>
                <a:latin typeface="맑은 고딕"/>
                <a:ea typeface="맑은 고딕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84048"/>
            <a:ext cx="105156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발표 목차 — 논문 구성</a:t>
            </a:r>
          </a:p>
        </p:txBody>
      </p:sp>
      <p:sp>
        <p:nvSpPr>
          <p:cNvPr id="7" name="Oval 6"/>
          <p:cNvSpPr/>
          <p:nvPr/>
        </p:nvSpPr>
        <p:spPr>
          <a:xfrm>
            <a:off x="11277295" y="274320"/>
            <a:ext cx="502920" cy="475488"/>
          </a:xfrm>
          <a:prstGeom prst="ellipse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CITA-Net · 백마고지(Hill 395) STKG 개체정합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510528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2 / 16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1371600"/>
            <a:ext cx="685800" cy="6858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00200" y="1408176"/>
            <a:ext cx="9784080" cy="612648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426464"/>
            <a:ext cx="3657600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B2A4A"/>
                </a:solidFill>
                <a:latin typeface="맑은 고딕"/>
                <a:ea typeface="맑은 고딕"/>
              </a:rPr>
              <a:t>개요  </a:t>
            </a:r>
            <a:r>
              <a:rPr sz="1100" b="0" i="0">
                <a:solidFill>
                  <a:srgbClr val="5A6470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426464"/>
            <a:ext cx="5486400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A33"/>
                </a:solidFill>
                <a:latin typeface="맑은 고딕"/>
                <a:ea typeface="맑은 고딕"/>
              </a:rPr>
              <a:t>문제 정의: 두 정보망이 본 같은 전장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304288"/>
            <a:ext cx="685800" cy="685800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0200" y="2340864"/>
            <a:ext cx="9784080" cy="612648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2359152"/>
            <a:ext cx="3657600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B2A4A"/>
                </a:solidFill>
                <a:latin typeface="맑은 고딕"/>
                <a:ea typeface="맑은 고딕"/>
              </a:rPr>
              <a:t>관련 연구  </a:t>
            </a:r>
            <a:r>
              <a:rPr sz="1100" b="0" i="0">
                <a:solidFill>
                  <a:srgbClr val="5A6470"/>
                </a:solidFill>
                <a:latin typeface="맑은 고딕"/>
                <a:ea typeface="맑은 고딕"/>
              </a:rPr>
              <a:t>Related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359152"/>
            <a:ext cx="5486400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A33"/>
                </a:solidFill>
                <a:latin typeface="맑은 고딕"/>
                <a:ea typeface="맑은 고딕"/>
              </a:rPr>
              <a:t>엔티티 정합 최신 연구와 한계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36976"/>
            <a:ext cx="685800" cy="685800"/>
          </a:xfrm>
          <a:prstGeom prst="ellipse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00200" y="3273552"/>
            <a:ext cx="9784080" cy="612648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3291840"/>
            <a:ext cx="3657600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B2A4A"/>
                </a:solidFill>
                <a:latin typeface="맑은 고딕"/>
                <a:ea typeface="맑은 고딕"/>
              </a:rPr>
              <a:t>방법론  </a:t>
            </a:r>
            <a:r>
              <a:rPr sz="1100" b="0" i="0">
                <a:solidFill>
                  <a:srgbClr val="5A6470"/>
                </a:solidFill>
                <a:latin typeface="맑은 고딕"/>
                <a:ea typeface="맑은 고딕"/>
              </a:rPr>
              <a:t>Methodology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291840"/>
            <a:ext cx="5486400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A33"/>
                </a:solidFill>
                <a:latin typeface="맑은 고딕"/>
                <a:ea typeface="맑은 고딕"/>
              </a:rPr>
              <a:t>6개 모듈 × 전장 예시로 직관 설명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4169664"/>
            <a:ext cx="685800" cy="68580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00200" y="4206240"/>
            <a:ext cx="9784080" cy="612648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4224528"/>
            <a:ext cx="3657600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B2A4A"/>
                </a:solidFill>
                <a:latin typeface="맑은 고딕"/>
                <a:ea typeface="맑은 고딕"/>
              </a:rPr>
              <a:t>실험 결과  </a:t>
            </a:r>
            <a:r>
              <a:rPr sz="1100" b="0" i="0">
                <a:solidFill>
                  <a:srgbClr val="5A6470"/>
                </a:solidFill>
                <a:latin typeface="맑은 고딕"/>
                <a:ea typeface="맑은 고딕"/>
              </a:rPr>
              <a:t>Experiments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224528"/>
            <a:ext cx="5486400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A33"/>
                </a:solidFill>
                <a:latin typeface="맑은 고딕"/>
                <a:ea typeface="맑은 고딕"/>
              </a:rPr>
              <a:t>정량·정성 분석 (백마고지)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5102352"/>
            <a:ext cx="685800" cy="685800"/>
          </a:xfrm>
          <a:prstGeom prst="ellipse">
            <a:avLst/>
          </a:prstGeom>
          <a:solidFill>
            <a:srgbClr val="7D4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00200" y="5138928"/>
            <a:ext cx="9784080" cy="612648"/>
          </a:xfrm>
          <a:prstGeom prst="roundRect">
            <a:avLst>
              <a:gd name="adj" fmla="val 12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5157216"/>
            <a:ext cx="3657600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B2A4A"/>
                </a:solidFill>
                <a:latin typeface="맑은 고딕"/>
                <a:ea typeface="맑은 고딕"/>
              </a:rPr>
              <a:t>결론  </a:t>
            </a:r>
            <a:r>
              <a:rPr sz="1100" b="0" i="0">
                <a:solidFill>
                  <a:srgbClr val="5A6470"/>
                </a:solidFill>
                <a:latin typeface="맑은 고딕"/>
                <a:ea typeface="맑은 고딕"/>
              </a:rPr>
              <a:t>Conclusion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5157216"/>
            <a:ext cx="5486400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A33"/>
                </a:solidFill>
                <a:latin typeface="맑은 고딕"/>
                <a:ea typeface="맑은 고딕"/>
              </a:rPr>
              <a:t>기여점 · 한계 · 향후 연구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241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686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2C28B"/>
                </a:solidFill>
                <a:latin typeface="맑은 고딕"/>
                <a:ea typeface="맑은 고딕"/>
              </a:rPr>
              <a:t>1. 개요  | 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84048"/>
            <a:ext cx="105156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문제 정의 — 같은 전장, 서로 다른 두 개의 보고</a:t>
            </a:r>
          </a:p>
        </p:txBody>
      </p:sp>
      <p:sp>
        <p:nvSpPr>
          <p:cNvPr id="7" name="Oval 6"/>
          <p:cNvSpPr/>
          <p:nvPr/>
        </p:nvSpPr>
        <p:spPr>
          <a:xfrm>
            <a:off x="11277295" y="274320"/>
            <a:ext cx="502920" cy="475488"/>
          </a:xfrm>
          <a:prstGeom prst="ellipse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CITA-Net · 백마고지(Hill 395) STKG 개체정합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510528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3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E07A28"/>
                </a:solidFill>
                <a:latin typeface="맑은 고딕"/>
                <a:ea typeface="맑은 고딕"/>
              </a:rPr>
              <a:t>백마고지 전투</a:t>
            </a:r>
            <a:r>
              <a:rPr sz="1500" b="0" i="0">
                <a:solidFill>
                  <a:srgbClr val="222A33"/>
                </a:solidFill>
                <a:latin typeface="맑은 고딕"/>
                <a:ea typeface="맑은 고딕"/>
              </a:rPr>
              <a:t>에서 </a:t>
            </a:r>
            <a:r>
              <a:rPr sz="1500" b="1" i="0">
                <a:solidFill>
                  <a:srgbClr val="1B2A4A"/>
                </a:solidFill>
                <a:latin typeface="맑은 고딕"/>
                <a:ea typeface="맑은 고딕"/>
              </a:rPr>
              <a:t>두 정보망</a:t>
            </a:r>
            <a:r>
              <a:rPr sz="1500" b="0" i="0">
                <a:solidFill>
                  <a:srgbClr val="222A33"/>
                </a:solidFill>
                <a:latin typeface="맑은 고딕"/>
                <a:ea typeface="맑은 고딕"/>
              </a:rPr>
              <a:t>이 같은 부대를 </a:t>
            </a:r>
            <a:r>
              <a:rPr sz="1500" b="1" i="0">
                <a:solidFill>
                  <a:srgbClr val="C0392B"/>
                </a:solidFill>
                <a:latin typeface="맑은 고딕"/>
                <a:ea typeface="맑은 고딕"/>
              </a:rPr>
              <a:t>다른 이름·좌표·시각</a:t>
            </a:r>
            <a:r>
              <a:rPr sz="1500" b="0" i="0">
                <a:solidFill>
                  <a:srgbClr val="222A33"/>
                </a:solidFill>
                <a:latin typeface="맑은 고딕"/>
                <a:ea typeface="맑은 고딕"/>
              </a:rPr>
              <a:t>으로 보고한다.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920240"/>
            <a:ext cx="3886200" cy="3108960"/>
          </a:xfrm>
          <a:prstGeom prst="roundRect">
            <a:avLst>
              <a:gd name="adj" fmla="val 6000"/>
            </a:avLst>
          </a:prstGeom>
          <a:solidFill>
            <a:srgbClr val="EEF2E9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2011680"/>
            <a:ext cx="3886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2E8B57"/>
                </a:solidFill>
                <a:latin typeface="맑은 고딕"/>
                <a:ea typeface="맑은 고딕"/>
              </a:rPr>
              <a:t>⛰  백마고지 (Hill 395)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834640"/>
            <a:ext cx="868680" cy="502920"/>
          </a:xfrm>
          <a:prstGeom prst="roundRect">
            <a:avLst>
              <a:gd name="adj" fmla="val 30000"/>
            </a:avLst>
          </a:prstGeom>
          <a:solidFill>
            <a:srgbClr val="5A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보병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743200"/>
            <a:ext cx="868680" cy="502920"/>
          </a:xfrm>
          <a:prstGeom prst="roundRect">
            <a:avLst>
              <a:gd name="adj" fmla="val 30000"/>
            </a:avLst>
          </a:prstGeom>
          <a:solidFill>
            <a:srgbClr val="5A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전차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3931920"/>
            <a:ext cx="868680" cy="502920"/>
          </a:xfrm>
          <a:prstGeom prst="roundRect">
            <a:avLst>
              <a:gd name="adj" fmla="val 30000"/>
            </a:avLst>
          </a:prstGeom>
          <a:solidFill>
            <a:srgbClr val="5A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포병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4526280"/>
            <a:ext cx="38862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맑은 고딕"/>
                <a:ea typeface="맑은 고딕"/>
              </a:rPr>
              <a:t>실제로는 하나의 전장 = 같은 부대들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148840"/>
            <a:ext cx="3108960" cy="1143000"/>
          </a:xfrm>
          <a:prstGeom prst="roundRect">
            <a:avLst>
              <a:gd name="adj" fmla="val 8000"/>
            </a:avLst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KG-A  아군 직접관측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CFDDEC"/>
                </a:solidFill>
                <a:latin typeface="맑은 고딕"/>
                <a:ea typeface="맑은 고딕"/>
              </a:rPr>
              <a:t>포병관측 · 시각 · 레이더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“국군 보병 대대 @좌표X”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2148840"/>
            <a:ext cx="3108960" cy="1143000"/>
          </a:xfrm>
          <a:prstGeom prst="roundRect">
            <a:avLst>
              <a:gd name="adj" fmla="val 8000"/>
            </a:avLst>
          </a:prstGeom>
          <a:solidFill>
            <a:srgbClr val="7D4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KG-B  항공·감청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EADDF2"/>
                </a:solidFill>
                <a:latin typeface="맑은 고딕"/>
                <a:ea typeface="맑은 고딕"/>
              </a:rPr>
              <a:t>항공정찰 · SIGINT · 음향 · HUMINT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“미상 보병 @좌표Y”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767328" y="2560320"/>
            <a:ext cx="365760" cy="320040"/>
          </a:xfrm>
          <a:prstGeom prst="rightArrow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ft Arrow 19"/>
          <p:cNvSpPr/>
          <p:nvPr/>
        </p:nvSpPr>
        <p:spPr>
          <a:xfrm>
            <a:off x="8046720" y="2560320"/>
            <a:ext cx="365760" cy="320040"/>
          </a:xfrm>
          <a:prstGeom prst="leftArrow">
            <a:avLst/>
          </a:prstGeom>
          <a:solidFill>
            <a:srgbClr val="7D4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54480" y="5257800"/>
            <a:ext cx="9052560" cy="9144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500" b="1" i="0">
                <a:solidFill>
                  <a:srgbClr val="F2C28B"/>
                </a:solidFill>
                <a:latin typeface="맑은 고딕"/>
                <a:ea typeface="맑은 고딕"/>
              </a:rPr>
              <a:t>핵심 과제:  </a:t>
            </a:r>
            <a:r>
              <a:rPr sz="1500" b="0" i="0">
                <a:solidFill>
                  <a:srgbClr val="FFFFFF"/>
                </a:solidFill>
                <a:latin typeface="맑은 고딕"/>
                <a:ea typeface="맑은 고딕"/>
              </a:rPr>
              <a:t>A의 “국군 보병 대대”와 B의 “미상 보병”은 </a:t>
            </a: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같은 부대인가, 다른 부대인가?</a:t>
            </a:r>
          </a:p>
          <a:p>
            <a:pPr algn="ctr">
              <a:spcAft>
                <a:spcPts val="100"/>
              </a:spcAft>
            </a:pPr>
            <a:r>
              <a:rPr sz="1200" b="0" i="0">
                <a:solidFill>
                  <a:srgbClr val="CFDDEC"/>
                </a:solidFill>
                <a:latin typeface="맑은 고딕"/>
                <a:ea typeface="맑은 고딕"/>
              </a:rPr>
              <a:t>→  이 자동 판정이 곧 “개체정합(Entity Alignment)”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241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686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2C28B"/>
                </a:solidFill>
                <a:latin typeface="맑은 고딕"/>
                <a:ea typeface="맑은 고딕"/>
              </a:rPr>
              <a:t>1. 개요  | 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84048"/>
            <a:ext cx="105156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왜 어려운가 — 판정의 3가지 결과와 3대 난점</a:t>
            </a:r>
          </a:p>
        </p:txBody>
      </p:sp>
      <p:sp>
        <p:nvSpPr>
          <p:cNvPr id="7" name="Oval 6"/>
          <p:cNvSpPr/>
          <p:nvPr/>
        </p:nvSpPr>
        <p:spPr>
          <a:xfrm>
            <a:off x="11277295" y="274320"/>
            <a:ext cx="502920" cy="475488"/>
          </a:xfrm>
          <a:prstGeom prst="ellipse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CITA-Net · 백마고지(Hill 395) STKG 개체정합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510528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4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4300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B2A4A"/>
                </a:solidFill>
                <a:latin typeface="맑은 고딕"/>
                <a:ea typeface="맑은 고딕"/>
              </a:rPr>
              <a:t>▣  판정은 세 갈래로 나뉜다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1627632"/>
            <a:ext cx="32918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E8B57"/>
                </a:solidFill>
                <a:latin typeface="맑은 고딕"/>
                <a:ea typeface="맑은 고딕"/>
              </a:rPr>
              <a:t>✔ 병합 (Merge)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같은 실체 → 하나로 통합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0876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07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27632"/>
            <a:ext cx="32918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E07A28"/>
                </a:solidFill>
                <a:latin typeface="맑은 고딕"/>
                <a:ea typeface="맑은 고딕"/>
              </a:rPr>
              <a:t>✂ 단편화 (Fragment)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같은데 확신 못 해 못 합침 (놓침)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50876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1" y="1627632"/>
            <a:ext cx="32918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C0392B"/>
                </a:solidFill>
                <a:latin typeface="맑은 고딕"/>
                <a:ea typeface="맑은 고딕"/>
              </a:rPr>
              <a:t>⊘ 매칭불가 (Dangling)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한쪽에만 잡힌 부대 → 짝 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74320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B2A4A"/>
                </a:solidFill>
                <a:latin typeface="맑은 고딕"/>
                <a:ea typeface="맑은 고딕"/>
              </a:rPr>
              <a:t>▣  기존 방법으로는 풀기 어려운 3대 난점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5468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965960" y="3337560"/>
            <a:ext cx="914400" cy="914400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3000" b="0" i="0">
                <a:solidFill>
                  <a:srgbClr val="FFFFFF"/>
                </a:solidFill>
                <a:latin typeface="맑은 고딕"/>
                <a:ea typeface="맑은 고딕"/>
              </a:rPr>
              <a:t>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389120"/>
            <a:ext cx="320040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2E5E8C"/>
                </a:solidFill>
                <a:latin typeface="맑은 고딕"/>
                <a:ea typeface="맑은 고딕"/>
              </a:rPr>
              <a:t>잡음 많은 다중 센서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레이더·감청·인간정보가 제각각.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출처마다 신뢰도가 다르다.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15468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15000" y="3337560"/>
            <a:ext cx="914400" cy="914400"/>
          </a:xfrm>
          <a:prstGeom prst="ellipse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3000" b="0" i="0">
                <a:solidFill>
                  <a:srgbClr val="FFFFFF"/>
                </a:solidFill>
                <a:latin typeface="맑은 고딕"/>
                <a:ea typeface="맑은 고딕"/>
              </a:rPr>
              <a:t>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389120"/>
            <a:ext cx="320040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E07A28"/>
                </a:solidFill>
                <a:latin typeface="맑은 고딕"/>
                <a:ea typeface="맑은 고딕"/>
              </a:rPr>
              <a:t>물리적 이동 제약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부대는 순간이동 불가.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시속을 넘는 “전이”는 불가능.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59" y="315468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64039" y="3337560"/>
            <a:ext cx="914400" cy="914400"/>
          </a:xfrm>
          <a:prstGeom prst="ellipse">
            <a:avLst/>
          </a:prstGeom>
          <a:solidFill>
            <a:srgbClr val="7D4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3000" b="0" i="0">
                <a:solidFill>
                  <a:srgbClr val="FFFFFF"/>
                </a:solidFill>
                <a:latin typeface="맑은 고딕"/>
                <a:ea typeface="맑은 고딕"/>
              </a:rPr>
              <a:t>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39" y="4389120"/>
            <a:ext cx="320040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7D469C"/>
                </a:solidFill>
                <a:latin typeface="맑은 고딕"/>
                <a:ea typeface="맑은 고딕"/>
              </a:rPr>
              <a:t>관계 맥락 의존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“미상 표적”은 단독으론 모름.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‘무엇을 따라가는가’로만 식별.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22A33"/>
                </a:solidFill>
                <a:latin typeface="맑은 고딕"/>
                <a:ea typeface="맑은 고딕"/>
              </a:rPr>
              <a:t>⇒  CITA-Net은 이 3대 난점을 </a:t>
            </a:r>
            <a:r>
              <a:rPr sz="1300" b="1" i="0">
                <a:solidFill>
                  <a:srgbClr val="E07A28"/>
                </a:solidFill>
                <a:latin typeface="맑은 고딕"/>
                <a:ea typeface="맑은 고딕"/>
              </a:rPr>
              <a:t>출처게이트 · 운동학 제약(CTA) · 관계 GNN</a:t>
            </a:r>
            <a:r>
              <a:rPr sz="1300" b="1" i="0">
                <a:solidFill>
                  <a:srgbClr val="222A33"/>
                </a:solidFill>
                <a:latin typeface="맑은 고딕"/>
                <a:ea typeface="맑은 고딕"/>
              </a:rPr>
              <a:t>으로 정면 해결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241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686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2C28B"/>
                </a:solidFill>
                <a:latin typeface="맑은 고딕"/>
                <a:ea typeface="맑은 고딕"/>
              </a:rPr>
              <a:t>2. 관련 연구  |  RELATED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84048"/>
            <a:ext cx="105156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엔티티 정합 연구의 3계열과 공통 한계</a:t>
            </a:r>
          </a:p>
        </p:txBody>
      </p:sp>
      <p:sp>
        <p:nvSpPr>
          <p:cNvPr id="7" name="Oval 6"/>
          <p:cNvSpPr/>
          <p:nvPr/>
        </p:nvSpPr>
        <p:spPr>
          <a:xfrm>
            <a:off x="11277295" y="274320"/>
            <a:ext cx="502920" cy="475488"/>
          </a:xfrm>
          <a:prstGeom prst="ellipse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CITA-Net · 백마고지(Hill 395) STKG 개체정합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510528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5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234440"/>
            <a:ext cx="3566160" cy="502920"/>
          </a:xfrm>
          <a:prstGeom prst="roundRect">
            <a:avLst>
              <a:gd name="adj" fmla="val 10000"/>
            </a:avLst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구조·임베딩 기반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83080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74519"/>
            <a:ext cx="3291840" cy="13258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22A33"/>
                </a:solidFill>
                <a:latin typeface="맑은 고딕"/>
                <a:ea typeface="맑은 고딕"/>
              </a:rPr>
              <a:t>MTransE, BootEA,</a:t>
            </a:r>
          </a:p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22A33"/>
                </a:solidFill>
                <a:latin typeface="맑은 고딕"/>
                <a:ea typeface="맑은 고딕"/>
              </a:rPr>
              <a:t>GCN-Align, RDGCN,</a:t>
            </a:r>
          </a:p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22A33"/>
                </a:solidFill>
                <a:latin typeface="맑은 고딕"/>
                <a:ea typeface="맑은 고딕"/>
              </a:rPr>
              <a:t>AliNet, Dual-AMN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10128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FB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329184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C0392B"/>
                </a:solidFill>
                <a:latin typeface="맑은 고딕"/>
                <a:ea typeface="맑은 고딕"/>
              </a:rPr>
              <a:t>⚠ 한계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두 그래프가 구조적으로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닮았다고 가정.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잡음·희소 그래프에 취약.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234440"/>
            <a:ext cx="3566160" cy="502920"/>
          </a:xfrm>
          <a:prstGeom prst="roundRect">
            <a:avLst>
              <a:gd name="adj" fmla="val 10000"/>
            </a:avLst>
          </a:prstGeom>
          <a:solidFill>
            <a:srgbClr val="7D4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멀티모달 정합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783080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7D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874519"/>
            <a:ext cx="3291840" cy="13258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22A33"/>
                </a:solidFill>
                <a:latin typeface="맑은 고딕"/>
                <a:ea typeface="맑은 고딕"/>
              </a:rPr>
              <a:t>MMEA, EVA,</a:t>
            </a:r>
          </a:p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22A33"/>
                </a:solidFill>
                <a:latin typeface="맑은 고딕"/>
                <a:ea typeface="맑은 고딕"/>
              </a:rPr>
              <a:t>MSNEA, MCLEA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310128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FB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401568"/>
            <a:ext cx="329184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C0392B"/>
                </a:solidFill>
                <a:latin typeface="맑은 고딕"/>
                <a:ea typeface="맑은 고딕"/>
              </a:rPr>
              <a:t>⚠ 한계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백과사전 KG(이미지·속성)용.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시공간·운동학 추론 없음.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출처 신뢰도 미반영.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9" y="1234440"/>
            <a:ext cx="3566160" cy="50292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시간·정합불가 처리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1783080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874519"/>
            <a:ext cx="3291840" cy="13258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22A33"/>
                </a:solidFill>
                <a:latin typeface="맑은 고딕"/>
                <a:ea typeface="맑은 고딕"/>
              </a:rPr>
              <a:t>TEA-GNN, TREA,</a:t>
            </a:r>
          </a:p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22A33"/>
                </a:solidFill>
                <a:latin typeface="맑은 고딕"/>
                <a:ea typeface="맑은 고딕"/>
              </a:rPr>
              <a:t>Dangling-EA</a:t>
            </a:r>
          </a:p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22A33"/>
                </a:solidFill>
                <a:latin typeface="맑은 고딕"/>
                <a:ea typeface="맑은 고딕"/>
              </a:rPr>
              <a:t>(Sun et al. 2021)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59" y="3310128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FB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3401568"/>
            <a:ext cx="329184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C0392B"/>
                </a:solidFill>
                <a:latin typeface="맑은 고딕"/>
                <a:ea typeface="맑은 고딕"/>
              </a:rPr>
              <a:t>⚠ 한계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시간을 이산 타임스탬프로만.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연속 기동(이동) 모델 없음.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92040"/>
            <a:ext cx="10881360" cy="132588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29200"/>
            <a:ext cx="1042416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2C28B"/>
                </a:solidFill>
                <a:latin typeface="맑은 고딕"/>
                <a:ea typeface="맑은 고딕"/>
              </a:rPr>
              <a:t>🔻  공통 한계 (전장 STKG 관점)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① 물리·운동학 제약 부재   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② 출처 신뢰도 미반영   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③ 정합불가(dangling) 미처리   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④ 설명불가(블랙박스)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E07A28"/>
                </a:solidFill>
                <a:latin typeface="맑은 고딕"/>
                <a:ea typeface="맑은 고딕"/>
              </a:rPr>
              <a:t>⇒  CITA-Net: 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멀티모달 융합 + 관계 GNN + 운동학 제약 + dangling 헤드를 </a:t>
            </a: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설명가능한 가산식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으로 통합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241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686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2C28B"/>
                </a:solidFill>
                <a:latin typeface="맑은 고딕"/>
                <a:ea typeface="맑은 고딕"/>
              </a:rPr>
              <a:t>3. 방법론  | 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84048"/>
            <a:ext cx="105156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전체 파이프라인 — 개별→관계→제약→종합</a:t>
            </a:r>
          </a:p>
        </p:txBody>
      </p:sp>
      <p:sp>
        <p:nvSpPr>
          <p:cNvPr id="7" name="Oval 6"/>
          <p:cNvSpPr/>
          <p:nvPr/>
        </p:nvSpPr>
        <p:spPr>
          <a:xfrm>
            <a:off x="11277295" y="274320"/>
            <a:ext cx="502920" cy="475488"/>
          </a:xfrm>
          <a:prstGeom prst="ellipse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CITA-Net · 백마고지(Hill 395) STKG 개체정합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510528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6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4300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A33"/>
                </a:solidFill>
                <a:latin typeface="맑은 고딕"/>
                <a:ea typeface="맑은 고딕"/>
              </a:rPr>
              <a:t>맥락을 한 겹씩 쌓아간다: 각 단계는 앞 단계의 출력(128차원 벡터)을 입력으로 받는다.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83080"/>
            <a:ext cx="1752600" cy="1828800"/>
          </a:xfrm>
          <a:prstGeom prst="roundRect">
            <a:avLst>
              <a:gd name="adj" fmla="val 8000"/>
            </a:avLst>
          </a:prstGeom>
          <a:solidFill>
            <a:srgbClr val="4A7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①</a:t>
            </a:r>
          </a:p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후보생성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ECF1F6"/>
                </a:solidFill>
                <a:latin typeface="맑은 고딕"/>
                <a:ea typeface="맑은 고딕"/>
              </a:rPr>
              <a:t>blocking_grid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ECF1F6"/>
                </a:solidFill>
                <a:latin typeface="맑은 고딕"/>
                <a:ea typeface="맑은 고딕"/>
              </a:rPr>
              <a:t>불가능 쌍 가지치기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374392" y="2496312"/>
            <a:ext cx="219456" cy="384048"/>
          </a:xfrm>
          <a:prstGeom prst="rightArrow">
            <a:avLst/>
          </a:prstGeom>
          <a:solidFill>
            <a:srgbClr val="C9D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57272" y="1783080"/>
            <a:ext cx="1752600" cy="1828800"/>
          </a:xfrm>
          <a:prstGeom prst="roundRect">
            <a:avLst>
              <a:gd name="adj" fmla="val 8000"/>
            </a:avLst>
          </a:prstGeom>
          <a:solidFill>
            <a:srgbClr val="4A7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②</a:t>
            </a:r>
          </a:p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특징화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ECF1F6"/>
                </a:solidFill>
                <a:latin typeface="맑은 고딕"/>
                <a:ea typeface="맑은 고딕"/>
              </a:rPr>
              <a:t>featurize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ECF1F6"/>
                </a:solidFill>
                <a:latin typeface="맑은 고딕"/>
                <a:ea typeface="맑은 고딕"/>
              </a:rPr>
              <a:t>관측·쌍·그래프 텐서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291584" y="2496312"/>
            <a:ext cx="219456" cy="384048"/>
          </a:xfrm>
          <a:prstGeom prst="rightArrow">
            <a:avLst/>
          </a:prstGeom>
          <a:solidFill>
            <a:srgbClr val="C9D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74464" y="1783080"/>
            <a:ext cx="1752600" cy="1828800"/>
          </a:xfrm>
          <a:prstGeom prst="roundRect">
            <a:avLst>
              <a:gd name="adj" fmla="val 8000"/>
            </a:avLst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③</a:t>
            </a:r>
          </a:p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관측 인코더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ECF1F6"/>
                </a:solidFill>
                <a:latin typeface="맑은 고딕"/>
                <a:ea typeface="맑은 고딕"/>
              </a:rPr>
              <a:t>5채널→128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ECF1F6"/>
                </a:solidFill>
                <a:latin typeface="맑은 고딕"/>
                <a:ea typeface="맑은 고딕"/>
              </a:rPr>
              <a:t>출처 게이트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208776" y="2496312"/>
            <a:ext cx="219456" cy="384048"/>
          </a:xfrm>
          <a:prstGeom prst="rightArrow">
            <a:avLst/>
          </a:prstGeom>
          <a:solidFill>
            <a:srgbClr val="C9D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91656" y="1783080"/>
            <a:ext cx="1752600" cy="1828800"/>
          </a:xfrm>
          <a:prstGeom prst="roundRect">
            <a:avLst>
              <a:gd name="adj" fmla="val 8000"/>
            </a:avLst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④</a:t>
            </a:r>
          </a:p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관계 GNN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ECF1F6"/>
                </a:solidFill>
                <a:latin typeface="맑은 고딕"/>
                <a:ea typeface="맑은 고딕"/>
              </a:rPr>
              <a:t>RGAT ×2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ECF1F6"/>
                </a:solidFill>
                <a:latin typeface="맑은 고딕"/>
                <a:ea typeface="맑은 고딕"/>
              </a:rPr>
              <a:t>이웃으로 식별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125968" y="2496312"/>
            <a:ext cx="219456" cy="384048"/>
          </a:xfrm>
          <a:prstGeom prst="rightArrow">
            <a:avLst/>
          </a:prstGeom>
          <a:solidFill>
            <a:srgbClr val="C9D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08847" y="1783080"/>
            <a:ext cx="1752600" cy="1828800"/>
          </a:xfrm>
          <a:prstGeom prst="roundRect">
            <a:avLst>
              <a:gd name="adj" fmla="val 8000"/>
            </a:avLst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⑤</a:t>
            </a:r>
          </a:p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CTA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ECF1F6"/>
                </a:solidFill>
                <a:latin typeface="맑은 고딕"/>
                <a:ea typeface="맑은 고딕"/>
              </a:rPr>
              <a:t>6항 제약 점수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ECF1F6"/>
                </a:solidFill>
                <a:latin typeface="맑은 고딕"/>
                <a:ea typeface="맑은 고딕"/>
              </a:rPr>
              <a:t>(모델의 두뇌)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043160" y="2496312"/>
            <a:ext cx="219456" cy="384048"/>
          </a:xfrm>
          <a:prstGeom prst="rightArrow">
            <a:avLst/>
          </a:prstGeom>
          <a:solidFill>
            <a:srgbClr val="C9D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26040" y="1783080"/>
            <a:ext cx="1752600" cy="182880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⑥</a:t>
            </a:r>
          </a:p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헤드·디코더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ECF1F6"/>
                </a:solidFill>
                <a:latin typeface="맑은 고딕"/>
                <a:ea typeface="맑은 고딕"/>
              </a:rPr>
              <a:t>Pair/Dangling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ECF1F6"/>
                </a:solidFill>
                <a:latin typeface="맑은 고딕"/>
                <a:ea typeface="맑은 고딕"/>
              </a:rPr>
              <a:t>Sinkhorn 슬롯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49039"/>
            <a:ext cx="1752600" cy="292608"/>
          </a:xfrm>
          <a:prstGeom prst="roundRect">
            <a:avLst>
              <a:gd name="adj" fmla="val 5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가지치기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57272" y="3749039"/>
            <a:ext cx="1752600" cy="292608"/>
          </a:xfrm>
          <a:prstGeom prst="roundRect">
            <a:avLst>
              <a:gd name="adj" fmla="val 5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수치화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74464" y="3749039"/>
            <a:ext cx="1752600" cy="292608"/>
          </a:xfrm>
          <a:prstGeom prst="roundRect">
            <a:avLst>
              <a:gd name="adj" fmla="val 5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개별 이해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91656" y="3749039"/>
            <a:ext cx="1752600" cy="292608"/>
          </a:xfrm>
          <a:prstGeom prst="roundRect">
            <a:avLst>
              <a:gd name="adj" fmla="val 5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관계 반영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08847" y="3749039"/>
            <a:ext cx="1752600" cy="292608"/>
          </a:xfrm>
          <a:prstGeom prst="roundRect">
            <a:avLst>
              <a:gd name="adj" fmla="val 5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물리 검증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26040" y="3749039"/>
            <a:ext cx="1752600" cy="292608"/>
          </a:xfrm>
          <a:prstGeom prst="roundRect">
            <a:avLst>
              <a:gd name="adj" fmla="val 5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최종 판정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297680"/>
            <a:ext cx="109728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B2A4A"/>
                </a:solidFill>
                <a:latin typeface="맑은 고딕"/>
                <a:ea typeface="맑은 고딕"/>
              </a:rPr>
              <a:t>왜 이 순서인가?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4A7BB0"/>
                </a:solidFill>
                <a:latin typeface="맑은 고딕"/>
                <a:ea typeface="맑은 고딕"/>
              </a:rPr>
              <a:t>①  </a:t>
            </a:r>
            <a:r>
              <a:rPr sz="1250" b="0" i="0">
                <a:solidFill>
                  <a:srgbClr val="222A33"/>
                </a:solidFill>
                <a:latin typeface="맑은 고딕"/>
                <a:ea typeface="맑은 고딕"/>
              </a:rPr>
              <a:t>N² 쌍 폭발을 막아 그럴듯한 후보만 남기고  →  </a:t>
            </a:r>
            <a:r>
              <a:rPr sz="1250" b="1" i="0">
                <a:solidFill>
                  <a:srgbClr val="2E5E8C"/>
                </a:solidFill>
                <a:latin typeface="맑은 고딕"/>
                <a:ea typeface="맑은 고딕"/>
              </a:rPr>
              <a:t>③④  </a:t>
            </a:r>
            <a:r>
              <a:rPr sz="1250" b="0" i="0">
                <a:solidFill>
                  <a:srgbClr val="222A33"/>
                </a:solidFill>
                <a:latin typeface="맑은 고딕"/>
                <a:ea typeface="맑은 고딕"/>
              </a:rPr>
              <a:t>관측을 의미·관계로 “이해”한 뒤  →  </a:t>
            </a:r>
            <a:r>
              <a:rPr sz="1250" b="1" i="0">
                <a:solidFill>
                  <a:srgbClr val="E07A28"/>
                </a:solidFill>
                <a:latin typeface="맑은 고딕"/>
                <a:ea typeface="맑은 고딕"/>
              </a:rPr>
              <a:t>⑤  </a:t>
            </a:r>
            <a:r>
              <a:rPr sz="1250" b="0" i="0">
                <a:solidFill>
                  <a:srgbClr val="222A33"/>
                </a:solidFill>
                <a:latin typeface="맑은 고딕"/>
                <a:ea typeface="맑은 고딕"/>
              </a:rPr>
              <a:t>“의미는 맞지만 물리적으로 불가능”을 가려내고  →  </a:t>
            </a:r>
            <a:r>
              <a:rPr sz="1250" b="1" i="0">
                <a:solidFill>
                  <a:srgbClr val="2E8B57"/>
                </a:solidFill>
                <a:latin typeface="맑은 고딕"/>
                <a:ea typeface="맑은 고딕"/>
              </a:rPr>
              <a:t>⑥  </a:t>
            </a:r>
            <a:r>
              <a:rPr sz="1250" b="0" i="0">
                <a:solidFill>
                  <a:srgbClr val="222A33"/>
                </a:solidFill>
                <a:latin typeface="맑은 고딕"/>
                <a:ea typeface="맑은 고딕"/>
              </a:rPr>
              <a:t>모든 맥락이 쌓인 뒤 최종 결정.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C0392B"/>
                </a:solidFill>
                <a:latin typeface="맑은 고딕"/>
                <a:ea typeface="맑은 고딕"/>
              </a:rPr>
              <a:t>핵심: </a:t>
            </a:r>
            <a:r>
              <a:rPr sz="1250" b="1" i="0">
                <a:solidFill>
                  <a:srgbClr val="222A33"/>
                </a:solidFill>
                <a:latin typeface="맑은 고딕"/>
                <a:ea typeface="맑은 고딕"/>
              </a:rPr>
              <a:t>모든 벡터를 128차원으로 통일</a:t>
            </a:r>
            <a:r>
              <a:rPr sz="1250" b="0" i="0">
                <a:solidFill>
                  <a:srgbClr val="222A33"/>
                </a:solidFill>
                <a:latin typeface="맑은 고딕"/>
                <a:ea typeface="맑은 고딕"/>
              </a:rPr>
              <a:t>해야 채널을 더하고(③), 부대끼리 비교하고(⑤), 다음 모듈로 흘려보낼 수 있다(④⑥).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241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686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2C28B"/>
                </a:solidFill>
                <a:latin typeface="맑은 고딕"/>
                <a:ea typeface="맑은 고딕"/>
              </a:rPr>
              <a:t>3. 방법론  |  ①②  후보생성 · 특징화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84048"/>
            <a:ext cx="105156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계산 폭발을 막는 “격자 가지치기”</a:t>
            </a:r>
          </a:p>
        </p:txBody>
      </p:sp>
      <p:sp>
        <p:nvSpPr>
          <p:cNvPr id="7" name="Oval 6"/>
          <p:cNvSpPr/>
          <p:nvPr/>
        </p:nvSpPr>
        <p:spPr>
          <a:xfrm>
            <a:off x="11277295" y="274320"/>
            <a:ext cx="502920" cy="475488"/>
          </a:xfrm>
          <a:prstGeom prst="ellipse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CITA-Net · 백마고지(Hill 395) STKG 개체정합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510528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7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0392B"/>
                </a:solidFill>
                <a:latin typeface="맑은 고딕"/>
                <a:ea typeface="맑은 고딕"/>
              </a:rPr>
              <a:t>문제: </a:t>
            </a:r>
            <a:r>
              <a:rPr sz="1300" b="0" i="0">
                <a:solidFill>
                  <a:srgbClr val="222A33"/>
                </a:solidFill>
                <a:latin typeface="맑은 고딕"/>
                <a:ea typeface="맑은 고딕"/>
              </a:rPr>
              <a:t>관측 N개면 가능한 쌍은 N²개(수만 개). 전부 비교하면 폭발.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828800"/>
            <a:ext cx="658368" cy="658368"/>
          </a:xfrm>
          <a:prstGeom prst="rect">
            <a:avLst/>
          </a:prstGeom>
          <a:noFill/>
          <a:ln w="1270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81328" y="1828800"/>
            <a:ext cx="658368" cy="658368"/>
          </a:xfrm>
          <a:prstGeom prst="rect">
            <a:avLst/>
          </a:prstGeom>
          <a:noFill/>
          <a:ln w="1270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39696" y="1828800"/>
            <a:ext cx="658368" cy="658368"/>
          </a:xfrm>
          <a:prstGeom prst="rect">
            <a:avLst/>
          </a:prstGeom>
          <a:noFill/>
          <a:ln w="1270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8064" y="1828800"/>
            <a:ext cx="658368" cy="658368"/>
          </a:xfrm>
          <a:prstGeom prst="rect">
            <a:avLst/>
          </a:prstGeom>
          <a:noFill/>
          <a:ln w="1270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487168"/>
            <a:ext cx="658368" cy="658368"/>
          </a:xfrm>
          <a:prstGeom prst="rect">
            <a:avLst/>
          </a:prstGeom>
          <a:noFill/>
          <a:ln w="1270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81328" y="2487168"/>
            <a:ext cx="658368" cy="658368"/>
          </a:xfrm>
          <a:prstGeom prst="rect">
            <a:avLst/>
          </a:prstGeom>
          <a:noFill/>
          <a:ln w="1270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39696" y="2487168"/>
            <a:ext cx="658368" cy="658368"/>
          </a:xfrm>
          <a:prstGeom prst="rect">
            <a:avLst/>
          </a:prstGeom>
          <a:noFill/>
          <a:ln w="1270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98064" y="2487168"/>
            <a:ext cx="658368" cy="658368"/>
          </a:xfrm>
          <a:prstGeom prst="rect">
            <a:avLst/>
          </a:prstGeom>
          <a:noFill/>
          <a:ln w="1270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145536"/>
            <a:ext cx="658368" cy="658368"/>
          </a:xfrm>
          <a:prstGeom prst="rect">
            <a:avLst/>
          </a:prstGeom>
          <a:noFill/>
          <a:ln w="1270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81328" y="3145536"/>
            <a:ext cx="658368" cy="658368"/>
          </a:xfrm>
          <a:prstGeom prst="rect">
            <a:avLst/>
          </a:prstGeom>
          <a:noFill/>
          <a:ln w="1270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39696" y="3145536"/>
            <a:ext cx="658368" cy="658368"/>
          </a:xfrm>
          <a:prstGeom prst="rect">
            <a:avLst/>
          </a:prstGeom>
          <a:noFill/>
          <a:ln w="1270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98064" y="3145536"/>
            <a:ext cx="658368" cy="658368"/>
          </a:xfrm>
          <a:prstGeom prst="rect">
            <a:avLst/>
          </a:prstGeom>
          <a:noFill/>
          <a:ln w="1270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803904"/>
            <a:ext cx="658368" cy="658368"/>
          </a:xfrm>
          <a:prstGeom prst="rect">
            <a:avLst/>
          </a:prstGeom>
          <a:noFill/>
          <a:ln w="1270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81328" y="3803904"/>
            <a:ext cx="658368" cy="658368"/>
          </a:xfrm>
          <a:prstGeom prst="rect">
            <a:avLst/>
          </a:prstGeom>
          <a:noFill/>
          <a:ln w="1270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39696" y="3803904"/>
            <a:ext cx="658368" cy="658368"/>
          </a:xfrm>
          <a:prstGeom prst="rect">
            <a:avLst/>
          </a:prstGeom>
          <a:noFill/>
          <a:ln w="1270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98064" y="3803904"/>
            <a:ext cx="658368" cy="658368"/>
          </a:xfrm>
          <a:prstGeom prst="rect">
            <a:avLst/>
          </a:prstGeom>
          <a:noFill/>
          <a:ln w="1270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81328" y="2487168"/>
            <a:ext cx="658368" cy="658368"/>
          </a:xfrm>
          <a:prstGeom prst="rect">
            <a:avLst/>
          </a:prstGeom>
          <a:solidFill>
            <a:srgbClr val="FBE3CF"/>
          </a:solidFill>
          <a:ln w="25400">
            <a:solidFill>
              <a:srgbClr val="E07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11680" y="2971800"/>
            <a:ext cx="146304" cy="146304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40280" y="3246120"/>
            <a:ext cx="146304" cy="146304"/>
          </a:xfrm>
          <a:prstGeom prst="ellipse">
            <a:avLst/>
          </a:prstGeom>
          <a:solidFill>
            <a:srgbClr val="7D4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97280" y="2057400"/>
            <a:ext cx="146304" cy="146304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00400" y="4297680"/>
            <a:ext cx="146304" cy="146304"/>
          </a:xfrm>
          <a:prstGeom prst="ellipse">
            <a:avLst/>
          </a:prstGeom>
          <a:solidFill>
            <a:srgbClr val="7D4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103120" y="4206240"/>
            <a:ext cx="146304" cy="146304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507992"/>
            <a:ext cx="263347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A6470"/>
                </a:solidFill>
                <a:latin typeface="맑은 고딕"/>
                <a:ea typeface="맑은 고딕"/>
              </a:rPr>
              <a:t>400m 격자 · ±3분 윈도 안의 쌍만 후보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1737360"/>
            <a:ext cx="75895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E5E8C"/>
                </a:solidFill>
                <a:latin typeface="맑은 고딕"/>
                <a:ea typeface="맑은 고딕"/>
              </a:rPr>
              <a:t>① 후보생성 (blocking_grid)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0" y="219456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1B2A4A"/>
                </a:solidFill>
                <a:latin typeface="맑은 고딕"/>
                <a:ea typeface="맑은 고딕"/>
              </a:rPr>
              <a:t>시간차 ≤ 180초(3분)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2194560"/>
            <a:ext cx="393192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→ 너무 떨어지면 제외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0" y="265176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1B2A4A"/>
                </a:solidFill>
                <a:latin typeface="맑은 고딕"/>
                <a:ea typeface="맑은 고딕"/>
              </a:rPr>
              <a:t>400m 격자 + 이웃칸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2651760"/>
            <a:ext cx="393192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→ 먼 거리 제외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0" y="310896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1B2A4A"/>
                </a:solidFill>
                <a:latin typeface="맑은 고딕"/>
                <a:ea typeface="맑은 고딕"/>
              </a:rPr>
              <a:t>도달 가능성(필요속도)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3108960"/>
            <a:ext cx="393192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→ 음속으로 달려야 하면 제외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60" y="3794760"/>
            <a:ext cx="75895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E5E8C"/>
                </a:solidFill>
                <a:latin typeface="맑은 고딕"/>
                <a:ea typeface="맑은 고딕"/>
              </a:rPr>
              <a:t>② 특징화 (featurize) — 모델이 먹을 텐서로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0" y="4206240"/>
            <a:ext cx="24231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4A7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24528" y="4297680"/>
            <a:ext cx="224028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4A7BB0"/>
                </a:solidFill>
                <a:latin typeface="맑은 고딕"/>
                <a:ea typeface="맑은 고딕"/>
              </a:rPr>
              <a:t>정규화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222A33"/>
                </a:solidFill>
                <a:latin typeface="맑은 고딕"/>
                <a:ea typeface="맑은 고딕"/>
              </a:rPr>
              <a:t>좌표 −중심 ÷1000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222A33"/>
                </a:solidFill>
                <a:latin typeface="맑은 고딕"/>
                <a:ea typeface="맑은 고딕"/>
              </a:rPr>
              <a:t>→ 0 근처 작은 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56831" y="4206240"/>
            <a:ext cx="24231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4A7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59" y="4297680"/>
            <a:ext cx="224028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4A7BB0"/>
                </a:solidFill>
                <a:latin typeface="맑은 고딕"/>
                <a:ea typeface="맑은 고딕"/>
              </a:rPr>
              <a:t>쌍 제약 사전계산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222A33"/>
                </a:solidFill>
                <a:latin typeface="맑은 고딕"/>
                <a:ea typeface="맑은 고딕"/>
              </a:rPr>
              <a:t>시간차·거리·필요속도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222A33"/>
                </a:solidFill>
                <a:latin typeface="맑은 고딕"/>
                <a:ea typeface="맑은 고딕"/>
              </a:rPr>
              <a:t>상태호환·관계겹침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98863" y="4206240"/>
            <a:ext cx="24231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4A7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08591" y="4297680"/>
            <a:ext cx="224028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4A7BB0"/>
                </a:solidFill>
                <a:latin typeface="맑은 고딕"/>
                <a:ea typeface="맑은 고딕"/>
              </a:rPr>
              <a:t>교차-KG 관계비교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222A33"/>
                </a:solidFill>
                <a:latin typeface="맑은 고딕"/>
                <a:ea typeface="맑은 고딕"/>
              </a:rPr>
              <a:t>ID 대신 술어로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222A33"/>
                </a:solidFill>
                <a:latin typeface="맑은 고딕"/>
                <a:ea typeface="맑은 고딕"/>
              </a:rPr>
              <a:t>(follows/near…)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07A28"/>
                </a:solidFill>
                <a:latin typeface="맑은 고딕"/>
                <a:ea typeface="맑은 고딕"/>
              </a:rPr>
              <a:t>전장 예시:  </a:t>
            </a:r>
            <a:r>
              <a:rPr sz="1200" b="0" i="0">
                <a:solidFill>
                  <a:srgbClr val="222A33"/>
                </a:solidFill>
                <a:latin typeface="맑은 고딕"/>
                <a:ea typeface="맑은 고딕"/>
              </a:rPr>
              <a:t>3분 전 5km 밖 관측은 보병이 닿을 수 없어 후보에서 자동 제외 → 정밀 분석은 소수 쌍만.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241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686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2C28B"/>
                </a:solidFill>
                <a:latin typeface="맑은 고딕"/>
                <a:ea typeface="맑은 고딕"/>
              </a:rPr>
              <a:t>3. 방법론  |  ③  관측 인코더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84048"/>
            <a:ext cx="105156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5채널을 128차원으로 융합 + 출처 신뢰도 게이트</a:t>
            </a:r>
          </a:p>
        </p:txBody>
      </p:sp>
      <p:sp>
        <p:nvSpPr>
          <p:cNvPr id="7" name="Oval 6"/>
          <p:cNvSpPr/>
          <p:nvPr/>
        </p:nvSpPr>
        <p:spPr>
          <a:xfrm>
            <a:off x="11277295" y="274320"/>
            <a:ext cx="502920" cy="475488"/>
          </a:xfrm>
          <a:prstGeom prst="ellipse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CITA-Net · 백마고지(Hill 395) STKG 개체정합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510528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8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A33"/>
                </a:solidFill>
                <a:latin typeface="맑은 고딕"/>
                <a:ea typeface="맑은 고딕"/>
              </a:rPr>
              <a:t>관측 하나에 섞인 5종류의 이질적 정보를 “공통 양식(128차원)”으로 번역해 가중합한다.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91640"/>
            <a:ext cx="2926080" cy="566928"/>
          </a:xfrm>
          <a:prstGeom prst="roundRect">
            <a:avLst>
              <a:gd name="adj" fmla="val 12000"/>
            </a:avLst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① 텍스트  </a:t>
            </a:r>
            <a:r>
              <a:rPr sz="1050" b="0" i="0">
                <a:solidFill>
                  <a:srgbClr val="E8EEF4"/>
                </a:solidFill>
                <a:latin typeface="맑은 고딕"/>
                <a:ea typeface="맑은 고딕"/>
              </a:rPr>
              <a:t>“국군 보병 대대”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11880" y="1801368"/>
            <a:ext cx="457200" cy="347472"/>
          </a:xfrm>
          <a:prstGeom prst="rightArrow">
            <a:avLst/>
          </a:prstGeom>
          <a:solidFill>
            <a:srgbClr val="C9D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0" y="1691640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2E5E8C"/>
                </a:solidFill>
                <a:latin typeface="맑은 고딕"/>
                <a:ea typeface="맑은 고딕"/>
              </a:rPr>
              <a:t>→ 128차원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50008"/>
            <a:ext cx="2926080" cy="566928"/>
          </a:xfrm>
          <a:prstGeom prst="roundRect">
            <a:avLst>
              <a:gd name="adj" fmla="val 12000"/>
            </a:avLst>
          </a:prstGeom>
          <a:solidFill>
            <a:srgbClr val="4A7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시공간  </a:t>
            </a:r>
            <a:r>
              <a:rPr sz="1050" b="0" i="0">
                <a:solidFill>
                  <a:srgbClr val="E8EEF4"/>
                </a:solidFill>
                <a:latin typeface="맑은 고딕"/>
                <a:ea typeface="맑은 고딕"/>
              </a:rPr>
              <a:t>좌표(x,y)+시각 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611880" y="2459736"/>
            <a:ext cx="457200" cy="347472"/>
          </a:xfrm>
          <a:prstGeom prst="rightArrow">
            <a:avLst/>
          </a:prstGeom>
          <a:solidFill>
            <a:srgbClr val="C9D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0" y="2350008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4A7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4A7BB0"/>
                </a:solidFill>
                <a:latin typeface="맑은 고딕"/>
                <a:ea typeface="맑은 고딕"/>
              </a:rPr>
              <a:t>→ 128차원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08376"/>
            <a:ext cx="2926080" cy="566928"/>
          </a:xfrm>
          <a:prstGeom prst="roundRect">
            <a:avLst>
              <a:gd name="adj" fmla="val 12000"/>
            </a:avLst>
          </a:prstGeom>
          <a:solidFill>
            <a:srgbClr val="4A7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상태  </a:t>
            </a:r>
            <a:r>
              <a:rPr sz="1050" b="0" i="0">
                <a:solidFill>
                  <a:srgbClr val="E8EEF4"/>
                </a:solidFill>
                <a:latin typeface="맑은 고딕"/>
                <a:ea typeface="맑은 고딕"/>
              </a:rPr>
              <a:t>Engaging(교전중)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611880" y="3118104"/>
            <a:ext cx="457200" cy="347472"/>
          </a:xfrm>
          <a:prstGeom prst="rightArrow">
            <a:avLst/>
          </a:prstGeom>
          <a:solidFill>
            <a:srgbClr val="C9D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14800" y="3008376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4A7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4A7BB0"/>
                </a:solidFill>
                <a:latin typeface="맑은 고딕"/>
                <a:ea typeface="맑은 고딕"/>
              </a:rPr>
              <a:t>→ 128차원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66744"/>
            <a:ext cx="2926080" cy="566928"/>
          </a:xfrm>
          <a:prstGeom prst="roundRect">
            <a:avLst>
              <a:gd name="adj" fmla="val 12000"/>
            </a:avLst>
          </a:prstGeom>
          <a:solidFill>
            <a:srgbClr val="4A7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④ 타입  </a:t>
            </a:r>
            <a:r>
              <a:rPr sz="1050" b="0" i="0">
                <a:solidFill>
                  <a:srgbClr val="E8EEF4"/>
                </a:solidFill>
                <a:latin typeface="맑은 고딕"/>
                <a:ea typeface="맑은 고딕"/>
              </a:rPr>
              <a:t>ROK_Infantry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611880" y="3776472"/>
            <a:ext cx="457200" cy="347472"/>
          </a:xfrm>
          <a:prstGeom prst="rightArrow">
            <a:avLst/>
          </a:prstGeom>
          <a:solidFill>
            <a:srgbClr val="C9D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14800" y="3666744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4A7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4A7BB0"/>
                </a:solidFill>
                <a:latin typeface="맑은 고딕"/>
                <a:ea typeface="맑은 고딕"/>
              </a:rPr>
              <a:t>→ 128차원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25112"/>
            <a:ext cx="2926080" cy="566928"/>
          </a:xfrm>
          <a:prstGeom prst="roundRect">
            <a:avLst>
              <a:gd name="adj" fmla="val 12000"/>
            </a:avLst>
          </a:prstGeom>
          <a:solidFill>
            <a:srgbClr val="7D4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⑤ 출처  </a:t>
            </a:r>
            <a:r>
              <a:rPr sz="1050" b="0" i="0">
                <a:solidFill>
                  <a:srgbClr val="E8EEF4"/>
                </a:solidFill>
                <a:latin typeface="맑은 고딕"/>
                <a:ea typeface="맑은 고딕"/>
              </a:rPr>
              <a:t>RADAR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611880" y="4434840"/>
            <a:ext cx="457200" cy="347472"/>
          </a:xfrm>
          <a:prstGeom prst="rightArrow">
            <a:avLst/>
          </a:prstGeom>
          <a:solidFill>
            <a:srgbClr val="C9D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14800" y="4325112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7D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7D469C"/>
                </a:solidFill>
                <a:latin typeface="맑은 고딕"/>
                <a:ea typeface="맑은 고딕"/>
              </a:rPr>
              <a:t>→ 128차원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0" y="1783080"/>
            <a:ext cx="1737360" cy="2743200"/>
          </a:xfrm>
          <a:prstGeom prst="roundRect">
            <a:avLst>
              <a:gd name="adj" fmla="val 6000"/>
            </a:avLst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출처 게이트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g(src) ∈ (0,1)</a:t>
            </a:r>
          </a:p>
          <a:p>
            <a:pPr algn="ctr">
              <a:spcAft>
                <a:spcPts val="100"/>
              </a:spcAft>
            </a:pPr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출처에 따라</a:t>
            </a:r>
          </a:p>
          <a:p>
            <a:pPr algn="ctr">
              <a:spcAft>
                <a:spcPts val="100"/>
              </a:spcAft>
            </a:pPr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믿을 채널을</a:t>
            </a:r>
          </a:p>
          <a:p>
            <a:pPr algn="ctr">
              <a:spcAft>
                <a:spcPts val="100"/>
              </a:spcAft>
            </a:pPr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자동 조절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498079" y="2926080"/>
            <a:ext cx="457200" cy="457200"/>
          </a:xfrm>
          <a:prstGeom prst="rightArrow">
            <a:avLst/>
          </a:prstGeom>
          <a:solidFill>
            <a:srgbClr val="C9D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0" y="228600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h(o) = LayerNorm(Σ g·f )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CFDDEC"/>
                </a:solidFill>
                <a:latin typeface="맑은 고딕"/>
                <a:ea typeface="맑은 고딕"/>
              </a:rPr>
              <a:t>관측 1개 = 의미 벡터</a:t>
            </a:r>
          </a:p>
          <a:p>
            <a:pPr algn="ctr">
              <a:spcAft>
                <a:spcPts val="100"/>
              </a:spcAft>
            </a:pPr>
            <a:r>
              <a:rPr sz="1100" b="0" i="1">
                <a:solidFill>
                  <a:srgbClr val="F2C28B"/>
                </a:solidFill>
                <a:latin typeface="맑은 고딕"/>
                <a:ea typeface="맑은 고딕"/>
              </a:rPr>
              <a:t>[0.2, −1.3, 0.7, … ] (128)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15000" y="4709160"/>
            <a:ext cx="5806440" cy="1417320"/>
          </a:xfrm>
          <a:prstGeom prst="roundRect">
            <a:avLst>
              <a:gd name="adj" fmla="val 5000"/>
            </a:avLst>
          </a:prstGeom>
          <a:solidFill>
            <a:srgbClr val="FB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97880" y="4818888"/>
            <a:ext cx="54864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07A28"/>
                </a:solidFill>
                <a:latin typeface="맑은 고딕"/>
                <a:ea typeface="맑은 고딕"/>
              </a:rPr>
              <a:t>🛰  전장 예시 — 출처마다 믿을 정보가 다르다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7D469C"/>
                </a:solidFill>
                <a:latin typeface="맑은 고딕"/>
                <a:ea typeface="맑은 고딕"/>
              </a:rPr>
              <a:t>RADAR</a:t>
            </a: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 → 좌표는 정확하나 부대명은 모름 (시공간↑, 텍스트↓)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7D469C"/>
                </a:solidFill>
                <a:latin typeface="맑은 고딕"/>
                <a:ea typeface="맑은 고딕"/>
              </a:rPr>
              <a:t>HUMINT</a:t>
            </a: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 → 명칭은 알지만 위치 부정확 (텍스트↑, 시공간↓)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029200"/>
            <a:ext cx="4937760" cy="1097280"/>
          </a:xfrm>
          <a:prstGeom prst="roundRect">
            <a:avLst>
              <a:gd name="adj" fmla="val 6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138928"/>
            <a:ext cx="45720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💡 사전지식으로 똑똑하게 시작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게이트 초기값을 ontology의 출처 신뢰도로 설정한 뒤, 데이터로 미세조정.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241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686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2C28B"/>
                </a:solidFill>
                <a:latin typeface="맑은 고딕"/>
                <a:ea typeface="맑은 고딕"/>
              </a:rPr>
              <a:t>3. 방법론  |  ④  관계-맥락 GNN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84048"/>
            <a:ext cx="105156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혼자선 모를 정체를 “이웃 관계”로 밝힌다</a:t>
            </a:r>
          </a:p>
        </p:txBody>
      </p:sp>
      <p:sp>
        <p:nvSpPr>
          <p:cNvPr id="7" name="Oval 6"/>
          <p:cNvSpPr/>
          <p:nvPr/>
        </p:nvSpPr>
        <p:spPr>
          <a:xfrm>
            <a:off x="11277295" y="274320"/>
            <a:ext cx="502920" cy="475488"/>
          </a:xfrm>
          <a:prstGeom prst="ellipse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CITA-Net · 백마고지(Hill 395) STKG 개체정합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510528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9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A33"/>
                </a:solidFill>
                <a:latin typeface="맑은 고딕"/>
                <a:ea typeface="맑은 고딕"/>
              </a:rPr>
              <a:t>GNN: 관측을 점, 관계를 선으로 본 그래프 위에서 메시지를 주고받아 각 벡터를 갱신한다.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520439" y="2697480"/>
            <a:ext cx="0" cy="1645920"/>
          </a:xfrm>
          <a:prstGeom prst="bentConnector3">
            <a:avLst/>
          </a:prstGeom>
          <a:ln w="31750">
            <a:solidFill>
              <a:srgbClr val="E07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063239" y="33558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follows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91640" y="3520440"/>
            <a:ext cx="1828799" cy="822960"/>
          </a:xfrm>
          <a:prstGeom prst="bentConnector3">
            <a:avLst/>
          </a:prstGeom>
          <a:ln w="25400">
            <a:solidFill>
              <a:srgbClr val="C9D2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3520439" y="2697480"/>
            <a:ext cx="1828801" cy="822960"/>
          </a:xfrm>
          <a:prstGeom prst="bentConnector3">
            <a:avLst/>
          </a:prstGeom>
          <a:ln w="25400">
            <a:solidFill>
              <a:srgbClr val="C9D2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017520" y="2377440"/>
            <a:ext cx="1005840" cy="640080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미군 전차</a:t>
            </a:r>
          </a:p>
          <a:p>
            <a:pPr algn="ctr"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(US_Tank)</a:t>
            </a:r>
          </a:p>
        </p:txBody>
      </p:sp>
      <p:sp>
        <p:nvSpPr>
          <p:cNvPr id="16" name="Oval 15"/>
          <p:cNvSpPr/>
          <p:nvPr/>
        </p:nvSpPr>
        <p:spPr>
          <a:xfrm>
            <a:off x="3017520" y="4023360"/>
            <a:ext cx="1005840" cy="640080"/>
          </a:xfrm>
          <a:prstGeom prst="ellipse">
            <a:avLst/>
          </a:prstGeom>
          <a:solidFill>
            <a:srgbClr val="5A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미상 표적</a:t>
            </a:r>
          </a:p>
          <a:p>
            <a:pPr algn="ctr"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(UNKNOWN)</a:t>
            </a:r>
          </a:p>
        </p:txBody>
      </p:sp>
      <p:sp>
        <p:nvSpPr>
          <p:cNvPr id="17" name="Oval 16"/>
          <p:cNvSpPr/>
          <p:nvPr/>
        </p:nvSpPr>
        <p:spPr>
          <a:xfrm>
            <a:off x="1188720" y="3200400"/>
            <a:ext cx="1005840" cy="640080"/>
          </a:xfrm>
          <a:prstGeom prst="ellipse">
            <a:avLst/>
          </a:prstGeom>
          <a:solidFill>
            <a:srgbClr val="7D4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중공군 보병</a:t>
            </a:r>
          </a:p>
        </p:txBody>
      </p:sp>
      <p:sp>
        <p:nvSpPr>
          <p:cNvPr id="18" name="Oval 17"/>
          <p:cNvSpPr/>
          <p:nvPr/>
        </p:nvSpPr>
        <p:spPr>
          <a:xfrm>
            <a:off x="4846320" y="3200400"/>
            <a:ext cx="1005840" cy="640080"/>
          </a:xfrm>
          <a:prstGeom prst="ellipse">
            <a:avLst/>
          </a:prstGeom>
          <a:solidFill>
            <a:srgbClr val="4A7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차량대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737360"/>
            <a:ext cx="56692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B2A4A"/>
                </a:solidFill>
                <a:latin typeface="맑은 고딕"/>
                <a:ea typeface="맑은 고딕"/>
              </a:rPr>
              <a:t>🔗  핵심 직관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148840"/>
            <a:ext cx="566928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5A6470"/>
                </a:solidFill>
                <a:latin typeface="맑은 고딕"/>
                <a:ea typeface="맑은 고딕"/>
              </a:rPr>
              <a:t>“미상 표적”</a:t>
            </a:r>
            <a:r>
              <a:rPr sz="1250" b="0" i="0">
                <a:solidFill>
                  <a:srgbClr val="222A33"/>
                </a:solidFill>
                <a:latin typeface="맑은 고딕"/>
                <a:ea typeface="맑은 고딕"/>
              </a:rPr>
              <a:t>은 위치만으론 선두 전차와 구별 불가.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22A33"/>
                </a:solidFill>
                <a:latin typeface="맑은 고딕"/>
                <a:ea typeface="맑은 고딕"/>
              </a:rPr>
              <a:t>하지만 </a:t>
            </a:r>
            <a:r>
              <a:rPr sz="1250" b="1" i="0">
                <a:solidFill>
                  <a:srgbClr val="E07A28"/>
                </a:solidFill>
                <a:latin typeface="맑은 고딕"/>
                <a:ea typeface="맑은 고딕"/>
              </a:rPr>
              <a:t>‘미군 전차를 follows(뒤따른다)’</a:t>
            </a:r>
            <a:r>
              <a:rPr sz="1250" b="0" i="0">
                <a:solidFill>
                  <a:srgbClr val="222A33"/>
                </a:solidFill>
                <a:latin typeface="맑은 고딕"/>
                <a:ea typeface="맑은 고딕"/>
              </a:rPr>
              <a:t>는 관계로 정체가 드러난다.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61188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14종 관계 엣지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611880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222A33"/>
                </a:solidFill>
                <a:latin typeface="맑은 고딕"/>
                <a:ea typeface="맑은 고딕"/>
              </a:rPr>
              <a:t>follows·firesAt·occupies·withdrawsFrom·reinforces 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411480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RGAT × 2층 (4헤드)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14800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222A33"/>
                </a:solidFill>
                <a:latin typeface="맑은 고딕"/>
                <a:ea typeface="맑은 고딕"/>
              </a:rPr>
              <a:t>중요한 이웃에 더 큰 가중치(attention)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461772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2-hop 전파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4617720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222A33"/>
                </a:solidFill>
                <a:latin typeface="맑은 고딕"/>
                <a:ea typeface="맑은 고딕"/>
              </a:rPr>
              <a:t>이웃의 이웃까지 정보 도달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512064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잔차 연결 (h+Δ)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5120640"/>
            <a:ext cx="274320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222A33"/>
                </a:solidFill>
                <a:latin typeface="맑은 고딕"/>
                <a:ea typeface="맑은 고딕"/>
              </a:rPr>
              <a:t>자기 정체성 보존 + 맥락만 보강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760720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AF3EC"/>
          </a:solidFill>
          <a:ln w="1651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2E8B57"/>
                </a:solidFill>
                <a:latin typeface="맑은 고딕"/>
                <a:ea typeface="맑은 고딕"/>
              </a:rPr>
              <a:t>✔ 실험 효과:  </a:t>
            </a:r>
            <a:r>
              <a:rPr sz="1250" b="0" i="0">
                <a:solidFill>
                  <a:srgbClr val="222A33"/>
                </a:solidFill>
                <a:latin typeface="맑은 고딕"/>
                <a:ea typeface="맑은 고딕"/>
              </a:rPr>
              <a:t>한쪽이 UNKNOWN인 관측을 문맥으로 올바른 타입(CCF_Infantry)으로 식별해 병합 성공 (확신도 0.92)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241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686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2C28B"/>
                </a:solidFill>
                <a:latin typeface="맑은 고딕"/>
                <a:ea typeface="맑은 고딕"/>
              </a:rPr>
              <a:t>3. 방법론  |  ⑤  CTA — 제약-인지 전이 어텐션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84048"/>
            <a:ext cx="105156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모델의 두뇌: 6개 항을 “더해서” 설명가능하게 판정</a:t>
            </a:r>
          </a:p>
        </p:txBody>
      </p:sp>
      <p:sp>
        <p:nvSpPr>
          <p:cNvPr id="7" name="Oval 6"/>
          <p:cNvSpPr/>
          <p:nvPr/>
        </p:nvSpPr>
        <p:spPr>
          <a:xfrm>
            <a:off x="11277295" y="274320"/>
            <a:ext cx="502920" cy="475488"/>
          </a:xfrm>
          <a:prstGeom prst="ellipse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CITA-Net · 백마고지(Hill 395) STKG 개체정합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510528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10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188720"/>
            <a:ext cx="10881360" cy="64008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score = </a:t>
            </a:r>
            <a:r>
              <a:rPr sz="1400" b="1" i="0">
                <a:solidFill>
                  <a:srgbClr val="F2C28B"/>
                </a:solidFill>
                <a:latin typeface="맑은 고딕"/>
                <a:ea typeface="맑은 고딕"/>
              </a:rPr>
              <a:t>w₀·의미유사도 </a:t>
            </a:r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</a:rPr>
              <a:t>+ 시간 + 운동학 + 상태 + 관계 + 출처</a:t>
            </a:r>
            <a:r>
              <a:rPr sz="1300" b="1" i="0">
                <a:solidFill>
                  <a:srgbClr val="9FD8B0"/>
                </a:solidFill>
                <a:latin typeface="맑은 고딕"/>
                <a:ea typeface="맑은 고딕"/>
              </a:rPr>
              <a:t>     →  p = sigmoid(score)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11680"/>
            <a:ext cx="1691639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03120"/>
            <a:ext cx="1600199" cy="1143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2E5E8C"/>
                </a:solidFill>
                <a:latin typeface="맑은 고딕"/>
                <a:ea typeface="맑은 고딕"/>
              </a:rPr>
              <a:t>의미 유사도</a:t>
            </a:r>
          </a:p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222A33"/>
                </a:solidFill>
                <a:latin typeface="맑은 고딕"/>
                <a:ea typeface="맑은 고딕"/>
              </a:rPr>
              <a:t>두 벡터 코사인</a:t>
            </a:r>
          </a:p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5A6470"/>
                </a:solidFill>
                <a:latin typeface="맑은 고딕"/>
                <a:ea typeface="맑은 고딕"/>
              </a:rPr>
              <a:t>[학습]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78024" y="2011680"/>
            <a:ext cx="1691639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23744" y="2103120"/>
            <a:ext cx="1600199" cy="1143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C0392B"/>
                </a:solidFill>
                <a:latin typeface="맑은 고딕"/>
                <a:ea typeface="맑은 고딕"/>
              </a:rPr>
              <a:t>시간 (HARD)</a:t>
            </a:r>
          </a:p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222A33"/>
                </a:solidFill>
                <a:latin typeface="맑은 고딕"/>
                <a:ea typeface="맑은 고딕"/>
              </a:rPr>
              <a:t>역행이면 −50 차단</a:t>
            </a:r>
          </a:p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C0392B"/>
                </a:solidFill>
                <a:latin typeface="맑은 고딕"/>
                <a:ea typeface="맑은 고딕"/>
              </a:rPr>
              <a:t>[하드]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2011680"/>
            <a:ext cx="1691639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E07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2103120"/>
            <a:ext cx="1600199" cy="1143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E07A28"/>
                </a:solidFill>
                <a:latin typeface="맑은 고딕"/>
                <a:ea typeface="맑은 고딕"/>
              </a:rPr>
              <a:t>운동학</a:t>
            </a:r>
          </a:p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222A33"/>
                </a:solidFill>
                <a:latin typeface="맑은 고딕"/>
                <a:ea typeface="맑은 고딕"/>
              </a:rPr>
              <a:t>필요속도&gt;한계면 벌점</a:t>
            </a:r>
          </a:p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5A6470"/>
                </a:solidFill>
                <a:latin typeface="맑은 고딕"/>
                <a:ea typeface="맑은 고딕"/>
              </a:rPr>
              <a:t>[학습]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912" y="2011680"/>
            <a:ext cx="1691639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4A7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1" y="2103120"/>
            <a:ext cx="1600199" cy="1143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4A7BB0"/>
                </a:solidFill>
                <a:latin typeface="맑은 고딕"/>
                <a:ea typeface="맑은 고딕"/>
              </a:rPr>
              <a:t>상태 호환</a:t>
            </a:r>
          </a:p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222A33"/>
                </a:solidFill>
                <a:latin typeface="맑은 고딕"/>
                <a:ea typeface="맑은 고딕"/>
              </a:rPr>
              <a:t>교전→파괴 OK 등</a:t>
            </a:r>
          </a:p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5A6470"/>
                </a:solidFill>
                <a:latin typeface="맑은 고딕"/>
                <a:ea typeface="맑은 고딕"/>
              </a:rPr>
              <a:t>[학습]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1855" y="2011680"/>
            <a:ext cx="1691639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7D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37575" y="2103120"/>
            <a:ext cx="1600199" cy="1143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7D469C"/>
                </a:solidFill>
                <a:latin typeface="맑은 고딕"/>
                <a:ea typeface="맑은 고딕"/>
              </a:rPr>
              <a:t>관계 겹침</a:t>
            </a:r>
          </a:p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222A33"/>
                </a:solidFill>
                <a:latin typeface="맑은 고딕"/>
                <a:ea typeface="맑은 고딕"/>
              </a:rPr>
              <a:t>이웃 자카드</a:t>
            </a:r>
          </a:p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5A6470"/>
                </a:solidFill>
                <a:latin typeface="맑은 고딕"/>
                <a:ea typeface="맑은 고딕"/>
              </a:rPr>
              <a:t>[학습]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799" y="2011680"/>
            <a:ext cx="1691639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19" y="2103120"/>
            <a:ext cx="1600199" cy="1143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2E8B57"/>
                </a:solidFill>
                <a:latin typeface="맑은 고딕"/>
                <a:ea typeface="맑은 고딕"/>
              </a:rPr>
              <a:t>출처 편향</a:t>
            </a:r>
          </a:p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222A33"/>
                </a:solidFill>
                <a:latin typeface="맑은 고딕"/>
                <a:ea typeface="맑은 고딕"/>
              </a:rPr>
              <a:t>출처쌍별 보정</a:t>
            </a:r>
          </a:p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5A6470"/>
                </a:solidFill>
                <a:latin typeface="맑은 고딕"/>
                <a:ea typeface="맑은 고딕"/>
              </a:rPr>
              <a:t>[학습]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52044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FB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639312"/>
            <a:ext cx="5120640" cy="2103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07A28"/>
                </a:solidFill>
                <a:latin typeface="맑은 고딕"/>
                <a:ea typeface="맑은 고딕"/>
              </a:rPr>
              <a:t>🏃  전장 예시 — 운동학 제약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A33"/>
                </a:solidFill>
                <a:latin typeface="맑은 고딕"/>
                <a:ea typeface="맑은 고딕"/>
              </a:rPr>
              <a:t>두 “보병” 관측이 의미상 비슷해도 </a:t>
            </a:r>
            <a:r>
              <a:rPr sz="1200" b="1" i="0">
                <a:solidFill>
                  <a:srgbClr val="C0392B"/>
                </a:solidFill>
                <a:latin typeface="맑은 고딕"/>
                <a:ea typeface="맑은 고딕"/>
              </a:rPr>
              <a:t>그 사이를 시속 344km(95 m/s)</a:t>
            </a:r>
            <a:r>
              <a:rPr sz="1200" b="0" i="0">
                <a:solidFill>
                  <a:srgbClr val="222A33"/>
                </a:solidFill>
                <a:latin typeface="맑은 고딕"/>
                <a:ea typeface="맑은 고딕"/>
              </a:rPr>
              <a:t>로 달려야 한다면?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필요속도 = 거리 ÷ 시간</a:t>
            </a:r>
          </a:p>
          <a:p>
            <a:pPr algn="ctr">
              <a:spcAft>
                <a:spcPts val="5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가능속도 = v_max(타입,상태) + 위치오차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07A28"/>
                </a:solidFill>
                <a:latin typeface="맑은 고딕"/>
                <a:ea typeface="맑은 고딕"/>
              </a:rPr>
              <a:t>⇒ </a:t>
            </a:r>
            <a:r>
              <a:rPr sz="1200" b="1" i="0">
                <a:solidFill>
                  <a:srgbClr val="222A33"/>
                </a:solidFill>
                <a:latin typeface="맑은 고딕"/>
                <a:ea typeface="맑은 고딕"/>
              </a:rPr>
              <a:t>필요 &gt; 가능 → 운동학 벌점 → 병합 차단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520440"/>
            <a:ext cx="5166360" cy="2286000"/>
          </a:xfrm>
          <a:prstGeom prst="roundRect">
            <a:avLst>
              <a:gd name="adj" fmla="val 5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639312"/>
            <a:ext cx="4846320" cy="2103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B2A4A"/>
                </a:solidFill>
                <a:latin typeface="맑은 고딕"/>
                <a:ea typeface="맑은 고딕"/>
              </a:rPr>
              <a:t>💡  왜 “더하기” 구조인가 — 설명가능성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A33"/>
                </a:solidFill>
                <a:latin typeface="맑은 고딕"/>
                <a:ea typeface="맑은 고딕"/>
              </a:rPr>
              <a:t>점수가 6개 항의 합이라, 어느 항 때문에 합쳐졌/막혔는지 분해해 볼 수 있다.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C0392B"/>
                </a:solidFill>
                <a:latin typeface="맑은 고딕"/>
                <a:ea typeface="맑은 고딕"/>
              </a:rPr>
              <a:t>“시간”만 하드(−50): </a:t>
            </a: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미래→과거 전이는 절대 불가.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E07A28"/>
                </a:solidFill>
                <a:latin typeface="맑은 고딕"/>
                <a:ea typeface="맑은 고딕"/>
              </a:rPr>
              <a:t>나머지는 소프트 벌점: </a:t>
            </a: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센서 오차 여지를 남김.</a:t>
            </a:r>
          </a:p>
          <a:p>
            <a:pPr algn="l">
              <a:spcAft>
                <a:spcPts val="200"/>
              </a:spcAft>
            </a:pPr>
            <a:r>
              <a:rPr sz="1150" b="0" i="1">
                <a:solidFill>
                  <a:srgbClr val="5A6470"/>
                </a:solidFill>
                <a:latin typeface="맑은 고딕"/>
                <a:ea typeface="맑은 고딕"/>
              </a:rPr>
              <a:t>→ 군사 의사결정의 “왜?”에 답할 수 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241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686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2C28B"/>
                </a:solidFill>
                <a:latin typeface="맑은 고딕"/>
                <a:ea typeface="맑은 고딕"/>
              </a:rPr>
              <a:t>3. 방법론  |  ⑥  예측 헤드 · Sinkhorn 디코더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84048"/>
            <a:ext cx="105156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쌍 판정 + 전체를 “부대 상자”로 군집화</a:t>
            </a:r>
          </a:p>
        </p:txBody>
      </p:sp>
      <p:sp>
        <p:nvSpPr>
          <p:cNvPr id="7" name="Oval 6"/>
          <p:cNvSpPr/>
          <p:nvPr/>
        </p:nvSpPr>
        <p:spPr>
          <a:xfrm>
            <a:off x="11277295" y="274320"/>
            <a:ext cx="502920" cy="475488"/>
          </a:xfrm>
          <a:prstGeom prst="ellipse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CITA-Net · 백마고지(Hill 395) STKG 개체정합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510528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11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E8B57"/>
                </a:solidFill>
                <a:latin typeface="맑은 고딕"/>
                <a:ea typeface="맑은 고딕"/>
              </a:rPr>
              <a:t>⑥a  예측 헤드 (쌍 단위)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37360"/>
            <a:ext cx="484632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22A33"/>
                </a:solidFill>
                <a:latin typeface="맑은 고딕"/>
                <a:ea typeface="맑은 고딕"/>
              </a:rPr>
              <a:t>PairHead — “이 둘은 같은가?”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A6470"/>
                </a:solidFill>
                <a:latin typeface="맑은 고딕"/>
                <a:ea typeface="맑은 고딕"/>
              </a:rPr>
              <a:t>입력: 두 벡터 + |차이| + 곱 + CTA 6항 + dt/거리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9748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484632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22A33"/>
                </a:solidFill>
                <a:latin typeface="맑은 고딕"/>
                <a:ea typeface="맑은 고딕"/>
              </a:rPr>
              <a:t>DanglingHead — “매칭불가인가?”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A6470"/>
                </a:solidFill>
                <a:latin typeface="맑은 고딕"/>
                <a:ea typeface="맑은 고딕"/>
              </a:rPr>
              <a:t>좋은 짝후보가 없으면 → 한쪽에만 존재할 가능성↑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59352"/>
            <a:ext cx="475488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2E8B57"/>
                </a:solidFill>
                <a:latin typeface="맑은 고딕"/>
                <a:ea typeface="맑은 고딕"/>
              </a:rPr>
              <a:t>⊘  전장 예시 — 매칭불가(dangling)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KG-B만 잡은 “중공군 박격포대”는 KG-A에 대응 부대가 없다.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→ 후보 점수가 모두 낮음 → ∅(null)로 분류 = 올바른 “매칭불가” 정탐.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23444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E8B57"/>
                </a:solidFill>
                <a:latin typeface="맑은 고딕"/>
                <a:ea typeface="맑은 고딕"/>
              </a:rPr>
              <a:t>⑥b  Sinkhorn 슬롯 디코더 (전체 군집)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691640"/>
            <a:ext cx="5212080" cy="749808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905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19088" y="180136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슬롯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1801368"/>
            <a:ext cx="1417320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950" b="1" i="0">
                <a:solidFill>
                  <a:srgbClr val="2E5E8C"/>
                </a:solidFill>
                <a:latin typeface="맑은 고딕"/>
                <a:ea typeface="맑은 고딕"/>
              </a:rPr>
              <a:t>A:보병대대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801368"/>
            <a:ext cx="1417320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950" b="1" i="0">
                <a:solidFill>
                  <a:srgbClr val="2E5E8C"/>
                </a:solidFill>
                <a:latin typeface="맑은 고딕"/>
                <a:ea typeface="맑은 고딕"/>
              </a:rPr>
              <a:t>B:미상보병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560320"/>
            <a:ext cx="5212080" cy="749808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9050">
            <a:solidFill>
              <a:srgbClr val="4A7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19088" y="267004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4A7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슬롯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2670048"/>
            <a:ext cx="1417320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4A7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950" b="1" i="0">
                <a:solidFill>
                  <a:srgbClr val="4A7BB0"/>
                </a:solidFill>
                <a:latin typeface="맑은 고딕"/>
                <a:ea typeface="맑은 고딕"/>
              </a:rPr>
              <a:t>A:전차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2670048"/>
            <a:ext cx="1417320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4A7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950" b="1" i="0">
                <a:solidFill>
                  <a:srgbClr val="4A7BB0"/>
                </a:solidFill>
                <a:latin typeface="맑은 고딕"/>
                <a:ea typeface="맑은 고딕"/>
              </a:rPr>
              <a:t>B:ROK tank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429000"/>
            <a:ext cx="5212080" cy="749808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9050">
            <a:solidFill>
              <a:srgbClr val="5A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353872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5A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∅ null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3538728"/>
            <a:ext cx="1417320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5A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950" b="1" i="0">
                <a:solidFill>
                  <a:srgbClr val="5A6470"/>
                </a:solidFill>
                <a:latin typeface="맑은 고딕"/>
                <a:ea typeface="맑은 고딕"/>
              </a:rPr>
              <a:t>B:박격포대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343400"/>
            <a:ext cx="548640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B2A4A"/>
                </a:solidFill>
                <a:latin typeface="맑은 고딕"/>
                <a:ea typeface="맑은 고딕"/>
              </a:rPr>
              <a:t>🧩  핵심 아이디어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슬롯 = “빈 부대 상자” K개 + ∅ 1개. </a:t>
            </a:r>
            <a:r>
              <a:rPr sz="1150" b="1" i="0">
                <a:solidFill>
                  <a:srgbClr val="2E8B57"/>
                </a:solidFill>
                <a:latin typeface="맑은 고딕"/>
                <a:ea typeface="맑은 고딕"/>
              </a:rPr>
              <a:t>같은 상자 = 같은 부대</a:t>
            </a: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Sinkhorn: 한 상자에 다 몰리는 “붕괴”를 막는 균형 배정. ∅는 균형에서 빼 dangling을 자유 흡수.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CTA 전이확률이 높은 관측끼리 같은 상자로 끌리게 주입 → ⑤와 ⑥b가 일관되게 정렬.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241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686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2C28B"/>
                </a:solidFill>
                <a:latin typeface="맑은 고딕"/>
                <a:ea typeface="맑은 고딕"/>
              </a:rPr>
              <a:t>4. 실험 결과  | 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84048"/>
            <a:ext cx="105156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데이터셋 규모와 핵심 정량 지표</a:t>
            </a:r>
          </a:p>
        </p:txBody>
      </p:sp>
      <p:sp>
        <p:nvSpPr>
          <p:cNvPr id="7" name="Oval 6"/>
          <p:cNvSpPr/>
          <p:nvPr/>
        </p:nvSpPr>
        <p:spPr>
          <a:xfrm>
            <a:off x="11277295" y="274320"/>
            <a:ext cx="502920" cy="475488"/>
          </a:xfrm>
          <a:prstGeom prst="ellipse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CITA-Net · 백마고지(Hill 395) STKG 개체정합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510528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12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188720"/>
            <a:ext cx="2057400" cy="7772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</a:rPr>
              <a:t>1,005,101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CFDDEC"/>
                </a:solidFill>
                <a:latin typeface="맑은 고딕"/>
                <a:ea typeface="맑은 고딕"/>
              </a:rPr>
              <a:t>트리플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188720"/>
            <a:ext cx="2057400" cy="7772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</a:rPr>
              <a:t>75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CFDDEC"/>
                </a:solidFill>
                <a:latin typeface="맑은 고딕"/>
                <a:ea typeface="맑은 고딕"/>
              </a:rPr>
              <a:t>섹터 (50/12/13)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188720"/>
            <a:ext cx="2057400" cy="7772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</a:rPr>
              <a:t>51,310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CFDDEC"/>
                </a:solidFill>
                <a:latin typeface="맑은 고딕"/>
                <a:ea typeface="맑은 고딕"/>
              </a:rPr>
              <a:t>관측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1188720"/>
            <a:ext cx="2057400" cy="7772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</a:rPr>
              <a:t>40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CFDDEC"/>
                </a:solidFill>
                <a:latin typeface="맑은 고딕"/>
                <a:ea typeface="맑은 고딕"/>
              </a:rPr>
              <a:t>epoch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1188720"/>
            <a:ext cx="2057400" cy="7772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</a:rPr>
              <a:t>128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CFDDEC"/>
                </a:solidFill>
                <a:latin typeface="맑은 고딕"/>
                <a:ea typeface="맑은 고딕"/>
              </a:rPr>
              <a:t>d_model</a:t>
            </a:r>
          </a:p>
        </p:txBody>
      </p:sp>
      <p:pic>
        <p:nvPicPr>
          <p:cNvPr id="15" name="Picture 14" descr="dataset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6400800" cy="19629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5166360"/>
            <a:ext cx="649224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B2A4A"/>
                </a:solidFill>
                <a:latin typeface="맑은 고딕"/>
                <a:ea typeface="맑은 고딕"/>
              </a:rPr>
              <a:t>데이터 분포 관찰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맑은 고딕"/>
                <a:ea typeface="맑은 고딕"/>
              </a:rPr>
              <a:t>· 보병 편중: </a:t>
            </a: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CCF+ROK Infantry가 전체의 54% (클래스 불균형)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· 상태: 교전(Engaging)·사격(Firing) 위주 / 출처: KG-A·B 균형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2148840"/>
            <a:ext cx="4206240" cy="2194560"/>
          </a:xfrm>
          <a:prstGeom prst="roundRect">
            <a:avLst>
              <a:gd name="adj" fmla="val 5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2286000"/>
            <a:ext cx="393192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맑은 고딕"/>
                <a:ea typeface="맑은 고딕"/>
              </a:rPr>
              <a:t>★ test 핵심 지표</a:t>
            </a:r>
          </a:p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222A33"/>
                </a:solidFill>
                <a:latin typeface="맑은 고딕"/>
                <a:ea typeface="맑은 고딕"/>
              </a:rPr>
              <a:t>F1  </a:t>
            </a:r>
            <a:r>
              <a:rPr sz="2200" b="1" i="0">
                <a:solidFill>
                  <a:srgbClr val="E07A28"/>
                </a:solidFill>
                <a:latin typeface="맑은 고딕"/>
                <a:ea typeface="맑은 고딕"/>
              </a:rPr>
              <a:t>0.686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22A33"/>
                </a:solidFill>
                <a:latin typeface="맑은 고딕"/>
                <a:ea typeface="맑은 고딕"/>
              </a:rPr>
              <a:t>Precision  </a:t>
            </a:r>
            <a:r>
              <a:rPr sz="1600" b="1" i="0">
                <a:solidFill>
                  <a:srgbClr val="2E8B57"/>
                </a:solidFill>
                <a:latin typeface="맑은 고딕"/>
                <a:ea typeface="맑은 고딕"/>
              </a:rPr>
              <a:t>0.895</a:t>
            </a:r>
            <a:r>
              <a:rPr sz="1300" b="0" i="0">
                <a:solidFill>
                  <a:srgbClr val="222A33"/>
                </a:solidFill>
                <a:latin typeface="맑은 고딕"/>
                <a:ea typeface="맑은 고딕"/>
              </a:rPr>
              <a:t>   Recall  </a:t>
            </a:r>
            <a:r>
              <a:rPr sz="1600" b="1" i="0">
                <a:solidFill>
                  <a:srgbClr val="C0392B"/>
                </a:solidFill>
                <a:latin typeface="맑은 고딕"/>
                <a:ea typeface="맑은 고딕"/>
              </a:rPr>
              <a:t>0.561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526280"/>
            <a:ext cx="429768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B2A4A"/>
                </a:solidFill>
                <a:latin typeface="맑은 고딕"/>
                <a:ea typeface="맑은 고딕"/>
              </a:rPr>
              <a:t>해석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E07A28"/>
                </a:solidFill>
                <a:latin typeface="맑은 고딕"/>
                <a:ea typeface="맑은 고딕"/>
              </a:rPr>
              <a:t>고정밀·저재현: </a:t>
            </a: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“확실하지 않으면 합치지 않는” 보수적 정책.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→ 오병합(다른 부대 오인)은 회피하나, 정합쌍을 절반 가까이 놓침(단편화 0.685).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241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686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2C28B"/>
                </a:solidFill>
                <a:latin typeface="맑은 고딕"/>
                <a:ea typeface="맑은 고딕"/>
              </a:rPr>
              <a:t>4. 실험 결과  | 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84048"/>
            <a:ext cx="105156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기존 대비 향상 · 학습 수렴 · 섹터별 일관성</a:t>
            </a:r>
          </a:p>
        </p:txBody>
      </p:sp>
      <p:sp>
        <p:nvSpPr>
          <p:cNvPr id="7" name="Oval 6"/>
          <p:cNvSpPr/>
          <p:nvPr/>
        </p:nvSpPr>
        <p:spPr>
          <a:xfrm>
            <a:off x="11277295" y="274320"/>
            <a:ext cx="502920" cy="475488"/>
          </a:xfrm>
          <a:prstGeom prst="ellipse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CITA-Net · 백마고지(Hill 395) STKG 개체정합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510528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13 / 16</a:t>
            </a:r>
          </a:p>
        </p:txBody>
      </p:sp>
      <p:pic>
        <p:nvPicPr>
          <p:cNvPr id="10" name="Picture 9" descr="baselin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3931920" cy="2817876"/>
          </a:xfrm>
          <a:prstGeom prst="rect">
            <a:avLst/>
          </a:prstGeom>
        </p:spPr>
      </p:pic>
      <p:pic>
        <p:nvPicPr>
          <p:cNvPr id="11" name="Picture 10" descr="training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234440"/>
            <a:ext cx="3840480" cy="2160270"/>
          </a:xfrm>
          <a:prstGeom prst="rect">
            <a:avLst/>
          </a:prstGeom>
        </p:spPr>
      </p:pic>
      <p:pic>
        <p:nvPicPr>
          <p:cNvPr id="12" name="Picture 11" descr="per_sector_metr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69080"/>
            <a:ext cx="7863840" cy="314553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686800" y="1234440"/>
            <a:ext cx="2971800" cy="4846320"/>
          </a:xfrm>
          <a:prstGeom prst="roundRect">
            <a:avLst>
              <a:gd name="adj" fmla="val 4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51392" y="1371600"/>
            <a:ext cx="26974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B2A4A"/>
                </a:solidFill>
                <a:latin typeface="맑은 고딕"/>
                <a:ea typeface="맑은 고딕"/>
              </a:rPr>
              <a:t>📈 읽는 법</a:t>
            </a:r>
          </a:p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2E8B57"/>
                </a:solidFill>
                <a:latin typeface="맑은 고딕"/>
                <a:ea typeface="맑은 고딕"/>
              </a:rPr>
              <a:t>baseline 대비
</a:t>
            </a: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F1 0.52→0.69 (+32%)
Recall 0.40→0.56 (+40%)</a:t>
            </a:r>
          </a:p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2E5E8C"/>
                </a:solidFill>
                <a:latin typeface="맑은 고딕"/>
                <a:ea typeface="맑은 고딕"/>
              </a:rPr>
              <a:t>학습 수렴
</a:t>
            </a: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loss 17.6→1.63 안정 수렴.
dev-F1는 30ep서 포화
→ early-stop 여지</a:t>
            </a:r>
          </a:p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E07A28"/>
                </a:solidFill>
                <a:latin typeface="맑은 고딕"/>
                <a:ea typeface="맑은 고딕"/>
              </a:rPr>
              <a:t>섹터별
</a:t>
            </a: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Precision(빨강)은
어디서나 높고 안정.
Recall(초록)이 출렁
→ 난이도=recall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7D469C"/>
                </a:solidFill>
                <a:latin typeface="맑은 고딕"/>
                <a:ea typeface="맑은 고딕"/>
              </a:rPr>
              <a:t>일반화
</a:t>
            </a:r>
            <a:r>
              <a:rPr sz="1100" b="0" i="0">
                <a:solidFill>
                  <a:srgbClr val="222A33"/>
                </a:solidFill>
                <a:latin typeface="맑은 고딕"/>
                <a:ea typeface="맑은 고딕"/>
              </a:rPr>
              <a:t>test ≥ dev → 과적합
징후 없음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241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686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2C28B"/>
                </a:solidFill>
                <a:latin typeface="맑은 고딕"/>
                <a:ea typeface="맑은 고딕"/>
              </a:rPr>
              <a:t>4. 실험 결과  |  정성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84048"/>
            <a:ext cx="105156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실제 정합 사례 — 무엇을 잘하고 무엇을 틀리나</a:t>
            </a:r>
          </a:p>
        </p:txBody>
      </p:sp>
      <p:sp>
        <p:nvSpPr>
          <p:cNvPr id="7" name="Oval 6"/>
          <p:cNvSpPr/>
          <p:nvPr/>
        </p:nvSpPr>
        <p:spPr>
          <a:xfrm>
            <a:off x="11277295" y="274320"/>
            <a:ext cx="502920" cy="475488"/>
          </a:xfrm>
          <a:prstGeom prst="ellipse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CITA-Net · 백마고지(Hill 395) STKG 개체정합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510528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14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28016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280160"/>
            <a:ext cx="5349240" cy="45720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38100" tIns="38100" bIns="38100"/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✔ 올바른 병합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847088"/>
            <a:ext cx="502920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A “중공군 침투조” ↔ B “미상 보병(UNKNOWN)”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→ CCF_Infantry로 식별·병합 (확신도 0.92)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1" i="0">
                <a:solidFill>
                  <a:srgbClr val="2E8B57"/>
                </a:solidFill>
                <a:latin typeface="맑은 고딕"/>
                <a:ea typeface="맑은 고딕"/>
              </a:rPr>
              <a:t>⇒ </a:t>
            </a:r>
            <a:r>
              <a:rPr sz="1100" b="1" i="0">
                <a:solidFill>
                  <a:srgbClr val="5A6470"/>
                </a:solidFill>
                <a:latin typeface="맑은 고딕"/>
                <a:ea typeface="맑은 고딕"/>
              </a:rPr>
              <a:t>이종 출처·UNKNOWN을 문맥으로 통합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8016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280160"/>
            <a:ext cx="5349240" cy="4572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38100" tIns="38100" bIns="38100"/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✘ 잘못된 병합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47088"/>
            <a:ext cx="502920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A “국군 보병 대대” ↔ B “국군 방어중대”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(서로 다른 부대인데 병합)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1" i="0">
                <a:solidFill>
                  <a:srgbClr val="C0392B"/>
                </a:solidFill>
                <a:latin typeface="맑은 고딕"/>
                <a:ea typeface="맑은 고딕"/>
              </a:rPr>
              <a:t>⇒ </a:t>
            </a:r>
            <a:r>
              <a:rPr sz="1100" b="1" i="0">
                <a:solidFill>
                  <a:srgbClr val="5A6470"/>
                </a:solidFill>
                <a:latin typeface="맑은 고딕"/>
                <a:ea typeface="맑은 고딕"/>
              </a:rPr>
              <a:t>동일 타입 보병끼리 혼동 — 오병합의 71%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0332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07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703320"/>
            <a:ext cx="5349240" cy="457200"/>
          </a:xfrm>
          <a:prstGeom prst="roundRect">
            <a:avLst>
              <a:gd name="adj" fmla="val 8000"/>
            </a:avLst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38100" tIns="38100" bIns="38100"/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✂ 단편화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270248"/>
            <a:ext cx="502920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A “아군 보병” / B “아군 보병” (같은 실체)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→ 확신 부족으로 미회수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1" i="0">
                <a:solidFill>
                  <a:srgbClr val="E07A28"/>
                </a:solidFill>
                <a:latin typeface="맑은 고딕"/>
                <a:ea typeface="맑은 고딕"/>
              </a:rPr>
              <a:t>⇒ </a:t>
            </a:r>
            <a:r>
              <a:rPr sz="1100" b="1" i="0">
                <a:solidFill>
                  <a:srgbClr val="5A6470"/>
                </a:solidFill>
                <a:latin typeface="맑은 고딕"/>
                <a:ea typeface="맑은 고딕"/>
              </a:rPr>
              <a:t>Recall 손실의 실체 = 보수적 abstain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70332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7D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3703320"/>
            <a:ext cx="5349240" cy="457200"/>
          </a:xfrm>
          <a:prstGeom prst="roundRect">
            <a:avLst>
              <a:gd name="adj" fmla="val 8000"/>
            </a:avLst>
          </a:prstGeom>
          <a:solidFill>
            <a:srgbClr val="7D4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38100" tIns="38100" bIns="38100"/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🛰 불가능 전이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270248"/>
            <a:ext cx="502920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Approaching→Approaching, 필요속도 95.5 m/s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(보병이 시속 344km)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1" i="0">
                <a:solidFill>
                  <a:srgbClr val="7D469C"/>
                </a:solidFill>
                <a:latin typeface="맑은 고딕"/>
                <a:ea typeface="맑은 고딕"/>
              </a:rPr>
              <a:t>⇒ </a:t>
            </a:r>
            <a:r>
              <a:rPr sz="1100" b="1" i="0">
                <a:solidFill>
                  <a:srgbClr val="5A6470"/>
                </a:solidFill>
                <a:latin typeface="맑은 고딕"/>
                <a:ea typeface="맑은 고딕"/>
              </a:rPr>
              <a:t>묶인 궤적의 24.6%가 물리적으로 불가능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241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686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2C28B"/>
                </a:solidFill>
                <a:latin typeface="맑은 고딕"/>
                <a:ea typeface="맑은 고딕"/>
              </a:rPr>
              <a:t>5. 결론  | 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84048"/>
            <a:ext cx="1051560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기여점 · 한계 · 향후 연구</a:t>
            </a:r>
          </a:p>
        </p:txBody>
      </p:sp>
      <p:sp>
        <p:nvSpPr>
          <p:cNvPr id="7" name="Oval 6"/>
          <p:cNvSpPr/>
          <p:nvPr/>
        </p:nvSpPr>
        <p:spPr>
          <a:xfrm>
            <a:off x="11277295" y="274320"/>
            <a:ext cx="502920" cy="475488"/>
          </a:xfrm>
          <a:prstGeom prst="ellipse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CITA-Net · 백마고지(Hill 395) STKG 개체정합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510528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A6470"/>
                </a:solidFill>
                <a:latin typeface="맑은 고딕"/>
                <a:ea typeface="맑은 고딕"/>
              </a:rPr>
              <a:t>15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E8B57"/>
                </a:solidFill>
                <a:latin typeface="맑은 고딕"/>
                <a:ea typeface="맑은 고딕"/>
              </a:rPr>
              <a:t>✦  연구 기여점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002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설명가능 제약 융합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600200"/>
            <a:ext cx="7955279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CTA 6항 가산식 — 의미+시간+운동학+상태+관계+출처를 분해가능하게 통합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4884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출처-인지 멀티모달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48840"/>
            <a:ext cx="7955279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출처 신뢰도 게이트로 센서별 강·약점 자동 보정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974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정합불가 + 군집 동시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97480"/>
            <a:ext cx="7955279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Dangling 헤드 + Sinkhorn 슬롯으로 매칭불가까지 처리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9184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38100" bIns="38100"/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F2C28B"/>
                </a:solidFill>
                <a:latin typeface="맑은 고딕"/>
                <a:ea typeface="맑은 고딕"/>
              </a:rPr>
              <a:t>실험 요약:  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test F1 0.686 · Precision 0.895 · 기존 대비 F1 +32% / Recall +40% · 과적합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69080"/>
            <a:ext cx="5349240" cy="2057400"/>
          </a:xfrm>
          <a:prstGeom prst="roundRect">
            <a:avLst>
              <a:gd name="adj" fmla="val 5000"/>
            </a:avLst>
          </a:prstGeom>
          <a:solidFill>
            <a:srgbClr val="FB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78808"/>
            <a:ext cx="5029200" cy="1920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C0392B"/>
                </a:solidFill>
                <a:latin typeface="맑은 고딕"/>
                <a:ea typeface="맑은 고딕"/>
              </a:rPr>
              <a:t>⚠  한계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· 저재현(Recall 0.56) — 단편화 0.685로 절반 가까이 놓침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· 동일 타입 보병 혼동(오병합의 71%)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· 불가능 전이 24.6% — CTA가 학습신호일 뿐 추론 시 미강제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069080"/>
            <a:ext cx="5349240" cy="2057400"/>
          </a:xfrm>
          <a:prstGeom prst="roundRect">
            <a:avLst>
              <a:gd name="adj" fmla="val 5000"/>
            </a:avLst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178808"/>
            <a:ext cx="5029200" cy="1920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E8B57"/>
                </a:solidFill>
                <a:latin typeface="맑은 고딕"/>
                <a:ea typeface="맑은 고딕"/>
              </a:rPr>
              <a:t>➜  향후 연구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· 임계값 재조정 — 저확신 오병합 제거로 P·R 동시 개선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· CTA 제약을 추론 시 hard-gate화 → 불가능 전이 후처리 제거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22A33"/>
                </a:solidFill>
                <a:latin typeface="맑은 고딕"/>
                <a:ea typeface="맑은 고딕"/>
              </a:rPr>
              <a:t>· 보병 hard-negative 대조학습 / UNKNOWN 전용 처리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0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377440"/>
            <a:ext cx="12191695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</a:rPr>
              <a:t>감사합니다</a:t>
            </a:r>
          </a:p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F2C28B"/>
                </a:solidFill>
                <a:latin typeface="맑은 고딕"/>
                <a:ea typeface="맑은 고딕"/>
              </a:rPr>
              <a:t>Q &amp;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CFDDEC"/>
                </a:solidFill>
                <a:latin typeface="맑은 고딕"/>
                <a:ea typeface="맑은 고딕"/>
              </a:rPr>
              <a:t>CITA-Net · 백마고지(Hill 395) STKG 개체정합 실험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