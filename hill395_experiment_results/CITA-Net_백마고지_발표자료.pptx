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Malgun Gothic"/>
              </a:rPr>
              <a:t>CITA-Net 기반 전장 STKG 개체정합(Entity Alignment)</a:t>
            </a:r>
          </a:p>
          <a:p>
            <a:r>
              <a:rPr sz="2000" b="0" i="0">
                <a:solidFill>
                  <a:srgbClr val="9FC5E8"/>
                </a:solidFill>
                <a:latin typeface="Malgun Gothic"/>
              </a:rPr>
              <a:t>Constraint-aware Identity &amp; Track Association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Malgun Gothic"/>
              </a:rPr>
              <a:t>사례 연구: 백마고지(Hill 395) 전투 시공간 지식그래프 — 방법론 · 수식 · 실험결과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데이터셋 1,005,101 트리플 · 75 섹터 · cross-KG 관측 정합 · CPU 학습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1. 문제 정의 ·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1F2D3D"/>
                </a:solidFill>
                <a:latin typeface="Malgun Gothic"/>
              </a:rPr>
              <a:t>•  과제: Cross-KG 개체정합(Entity Alignment) — 서로 다른 정보망이 따로 관측한 객체가 동일 실체인지 판정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–  전장에서는 여러 센서·정보출처가 같은 부대를 비동기·부분적으로 관측한다</a:t>
            </a:r>
          </a:p>
          <a:p>
            <a:pPr lvl="2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KG-A: 아군 직접관측(전방관측조 VISUAL_OBS / RADAR / 포병관측 ARTILLERY_OBS)</a:t>
            </a:r>
          </a:p>
          <a:p>
            <a:pPr lvl="2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KG-B: 원거리·우회(항공정찰 AERIAL / 감청 SIGINT / 청음 ACOUSTIC / 정찰·포로 HUMINT)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–  두 정보망의 관측을 융합하려면 '같은 실체'를 정확히 묶고(merge), 한쪽만 본 것은 매칭불가(dangling)로 남겨야 한다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 i="0">
                <a:solidFill>
                  <a:srgbClr val="1F2D3D"/>
                </a:solidFill>
                <a:latin typeface="Malgun Gothic"/>
              </a:rPr>
              <a:t>•  난점 (백마고지 도메인 그대로)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–  동일 유형 부대 대량 등장(보병 소부대 분해: 돌격조·침투조·증원대·잔존대) → hard negative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–  순간 위치만으로 구별 불가(능선 교차궤적), 한국어 라벨 다양·오식별, 비동기 시계(clock skew), 위치오차(CEP)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–  Destroyed 잔해·Emplaced 화력 등 상태 제약, 운동학적으로 불가능한 전이 존재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Malgun Gothic"/>
              </a:rPr>
              <a:t>•  목표: 의미·시공간·관계·운동학·출처 제약을 한 모델에 통합해 정밀하면서 견고한 정합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2. 과제의 형식적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2D3D"/>
                </a:solidFill>
                <a:latin typeface="Malgun Gothic"/>
              </a:rPr>
              <a:t>•  STKG = (Entities, Observations, Events, Landmarks, Relations) — 관측 중심 시공간 지식그래프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Consolas"/>
              </a:rPr>
              <a:t>–  관측 o = ⟨obs_id, kg, source, type, type_conf, state, state_conf, time, (E,N), cep_m, rels, events⟩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두 KG의 지역 개체 e^A, e^B 가 동일 실체이면 정합쌍, 어느 쪽에도 짝이 없으면 dangling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383280"/>
            <a:ext cx="10972800" cy="1700784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입력 :  관측 집합 O = O_A ∪ O_B  (두 정보망)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출력 :  정체성 군집 {I_k},  각 I_k ⊆ O  (관측→정체성 many-to-one)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        + 매칭불가 집합 D ⊆ O  (∅ 슬롯으로 흡수)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평가 :  교차-KG 개체쌍 (e^A, e^B) 을 정답과 비교 → Precision / Recall /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2C6FBB"/>
                </a:solidFill>
                <a:latin typeface="Malgun Gothic"/>
              </a:rPr>
              <a:t>•  핵심 설계: 진영(ROK/CCF/US)을 객체 타입에 내장 → 진영 간 오병합을 구조적으로 차단하고, 동일 진영·동일 기능 부대만 hard negative로 남긴다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3. 데이터셋 — 백마고지 Large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2D3D"/>
                </a:solidFill>
                <a:latin typeface="Malgun Gothic"/>
              </a:rPr>
              <a:t>•  규모: 1,005,101 트리플 / 75 섹터 / 51,310 관측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분할: train 50 · dev 12 · test 13 (분리 시드, 누수 안전)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knobs: identities/sector=40, obs/track=10, dangling=0.2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i="0">
                <a:solidFill>
                  <a:srgbClr val="1F2D3D"/>
                </a:solidFill>
                <a:latin typeface="Malgun Gothic"/>
              </a:rPr>
              <a:t>•  생성 방식 (시드→절차적 확장)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백마고지 사료(entity dict 386·taxonomy·.trig·Oct 6–15 타임라인)를 시드로 사용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섹터=하위교전(국면×하위지역): ROK 방어 + CCF 공격 + 전차·포병·박격포·대공·공병·차량·조명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소부대 분해→동일 type 대량(hard neg), 두 KG 이중관측+노이즈, dangling 20%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결정론적 시드, stkg.nt(N-Triples)+observations.jsonl+gold_identities+dangling emit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 i="0">
                <a:solidFill>
                  <a:srgbClr val="2C6FBB"/>
                </a:solidFill>
                <a:latin typeface="Malgun Gothic"/>
              </a:rPr>
              <a:t>•  관측 스키마는 기존 large suite와 동일 → 파이프라인 드롭인</a:t>
            </a:r>
          </a:p>
        </p:txBody>
      </p:sp>
      <p:pic>
        <p:nvPicPr>
          <p:cNvPr id="5" name="Picture 4" descr="datase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377440"/>
            <a:ext cx="4937760" cy="1514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5486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F6B"/>
                </a:solidFill>
                <a:latin typeface="Malgun Gothic"/>
              </a:rPr>
              <a:t>타입/상태/소스별 관측 분포 (51,310 관측)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4. CITA-Net 파이프라인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54480"/>
            <a:ext cx="1828800" cy="137160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① Blocking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그리드+시간
후보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2103120"/>
            <a:ext cx="118872" cy="228600"/>
          </a:xfrm>
          <a:prstGeom prst="rect">
            <a:avLst/>
          </a:prstGeom>
          <a:solidFill>
            <a:srgbClr val="55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59152" y="1554480"/>
            <a:ext cx="1828800" cy="137160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② Encoder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5채널 다중모달
+ 출처 게이트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7952" y="2103120"/>
            <a:ext cx="118872" cy="228600"/>
          </a:xfrm>
          <a:prstGeom prst="rect">
            <a:avLst/>
          </a:prstGeom>
          <a:solidFill>
            <a:srgbClr val="55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6824" y="1554480"/>
            <a:ext cx="1828800" cy="137160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③ Relation GNN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RGAT 2-hop
관계맥락</a:t>
            </a:r>
          </a:p>
        </p:txBody>
      </p:sp>
      <p:sp>
        <p:nvSpPr>
          <p:cNvPr id="9" name="Rectangle 8"/>
          <p:cNvSpPr/>
          <p:nvPr/>
        </p:nvSpPr>
        <p:spPr>
          <a:xfrm>
            <a:off x="6135624" y="2103120"/>
            <a:ext cx="118872" cy="228600"/>
          </a:xfrm>
          <a:prstGeom prst="rect">
            <a:avLst/>
          </a:prstGeom>
          <a:solidFill>
            <a:srgbClr val="55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1554480"/>
            <a:ext cx="182880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④ CTA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제약인지
전이 어텐션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2103120"/>
            <a:ext cx="118872" cy="228600"/>
          </a:xfrm>
          <a:prstGeom prst="rect">
            <a:avLst/>
          </a:prstGeom>
          <a:solidFill>
            <a:srgbClr val="55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2168" y="1554480"/>
            <a:ext cx="1828800" cy="137160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⑤ Decoder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Sinkhorn
슬롯 정합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30968" y="2103120"/>
            <a:ext cx="118872" cy="228600"/>
          </a:xfrm>
          <a:prstGeom prst="rect">
            <a:avLst/>
          </a:prstGeom>
          <a:solidFill>
            <a:srgbClr val="55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49840" y="1554480"/>
            <a:ext cx="1828800" cy="1371600"/>
          </a:xfrm>
          <a:prstGeom prst="rect">
            <a:avLst/>
          </a:prstGeom>
          <a:solidFill>
            <a:srgbClr val="55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⑥ Heads/Loss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pair·dangling
·assign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관측 임베딩 h(o)을 인코더가 만들고, GNN이 관계맥락을 주입 → CTA가 시공간·운동학·상태·관계·출처 제약으로 전이확률 산출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디코더가 K개 정체성 슬롯+∅ 슬롯에 관측을 Sinkhorn 정합 → 군집/궤적/전이 디코드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학습은 pair·transition·trajectory·dangling·assign 5개 손실의 가중합으로 종단간(end-to-end)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2C6FBB"/>
                </a:solidFill>
                <a:latin typeface="Malgun Gothic"/>
              </a:rPr>
              <a:t>•  섹터 단위 스트리밍: 1M 트리플이지만 한 번에 한 섹터만 메모리 상주(peak ~16 MB)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5. 후보 생성 (Grid+Time Blocking)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O(M²) 전수 대신 (셀x, 셀y, 시간버킷) 공간해시로 시공간 이웃만 후보화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관측별 reach 반경 = 운동학 도달거리 + 자기 CEP + 최악 파트너 CEP + 바닥값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타입 호환(동일 카테고리 허용) + 전방 시간창(0 ≤ Δt ≤ dt_max) 필터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34640"/>
            <a:ext cx="10972800" cy="1389888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reach_i = mult · v_max(type_i, state_i) · dt_max  +  cep_i + max_cep + r_floor + extra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후보(i,j) 채택  ⇔  타입호환 ∧ (0 ≤ t_j − t_i ≤ dt_max) ∧ dist(i,j) ≤ reach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설정:  dt_max = 180 s,  cell = 400 m,  r_floor = 80 m,  type_by_category 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결과: blocking recall ≥ 0.987, 후보 ~10× 축소, grid ⊆ brute-force(누락 없음)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한국어 라벨 다양성 때문에 텍스트 게이트는 off(true match 손실 방지)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6. 관측 인코더 (Source-aware Multimodal)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2D3D"/>
                </a:solidFill>
                <a:latin typeface="Malgun Gothic"/>
              </a:rPr>
              <a:t>•  관측 1개를 5개 채널로 임베딩 후, 출처 신뢰도 게이트 g(src)∈(0,1)⁵로 가중합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채널: 텍스트(라벨) · 시공간(Fourier (x,y,t)) · 상태 · 타입(+conf) · 출처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10972800" cy="1700784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h(o) = LayerNorm( Σ_c  g_c(src) · f_c(o) ),   c ∈ {text, st, state, type, source}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g(src) = σ( W · emb_gate(src) + logit(reliability(src)) )      # prior = sources.yaml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f_st = MLP( Fourier(x, y, t) ),   Fourier = [sin(2^b·u), cos(2^b·u)]_b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f_type = Linear( [emb_type(type) ;  type_confidence]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게이트 prior를 sources.yaml 신뢰도로 초기화 → RADAR는 위치↑/분류↓, HUMINT는 분류↑/위치↓ 등 출처 특성 반영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555F6B"/>
                </a:solidFill>
                <a:latin typeface="Malgun Gothic"/>
              </a:rPr>
              <a:t>•  d_model = 128, 텍스트 인코더=learned, 출처 게이트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7. 관계-맥락 그래프 인코더 (RGAT, 2-hop)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관측들이 이종 그래프를 형성: 동일트랙(시간연쇄) · 관계엣지(follows/near/supports/occupies…) · 공통이벤트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다중관계 GAT 2-hop 메시지패싱으로 관계맥락을 임베딩에 흡수 (위치 모호 시 관계가 판별신호)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10972800" cy="1700784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msg(e) = W·h_src(e) + emb_rel(rel(e))                       # 관계별 메시지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α_e = softmax_dst( LeakyReLU( aₛ·msg_h + a_d·(W·h_dst) ) )   # 엣지 어텐션(헤드별)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h'_v = LayerNorm( h_v + ELU( Σ_{e→v} α_e · msg(e) ) )        # 잔차 + 정규화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self-loop 관계 추가 · n_heads = 4 · layers = 2 · |REL| = 14(전투술어 3종 포함)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전투 특화 술어 occupies/withdrawsFrom/reinforces를 별도 edge-type 임베딩으로 추가(featurize.REL_NAMES↔citanet.n_relations 연동)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2C6FBB"/>
                </a:solidFill>
                <a:latin typeface="Malgun Gothic"/>
              </a:rPr>
              <a:t>•  예: 'lead 전차를 follows 하는 UNKNOWN 보병'을 위치 모호에도 관계로 구별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8. 운동학 타당성 (Kinematic Feasibility)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2D3D"/>
                </a:solidFill>
                <a:latin typeface="Malgun Gothic"/>
              </a:rPr>
              <a:t>•  두 관측을 같은 객체로 이으려면 요구속도가 물리적 가능속도 이하여야 한다(CEP 위치오차 여유 포함)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972800" cy="1700784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required_speed  =  dist(i,j) / Δt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feasible_speed  =  max( v_max(type_i,state_i), v_max(type_j,state_j) ) + (cep_i + cep_j)/Δt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feasible        ⇔  required_speed ≤ feasible_speed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1F2D3D"/>
                </a:solidFill>
                <a:latin typeface="Consolas"/>
              </a:rPr>
              <a:t>violation       =  max(0,  required_speed − feasible_speed)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v_max(type,state)는 classes.yaml의 상태별 최대속도 — 예: 보병 2 m/s, 전차 12 m/s, 견인포 0, Emplaced/Holding은 0.5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2C6FBB"/>
                </a:solidFill>
                <a:latin typeface="Malgun Gothic"/>
              </a:rPr>
              <a:t>•  이 값이 CTA의 b_motion 항과 L_trajectory 손실, 그리고 blocking reach에 모두 사용됨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9. 제약인지 전이 어텐션 (CTA) — 핵심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24712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1F2D3D"/>
                </a:solidFill>
                <a:latin typeface="Consolas"/>
              </a:rPr>
              <a:t>score(i→j) = w₀·sim_sem + b_time + b_motion + b_state + b_rel + b_src</a:t>
            </a:r>
          </a:p>
          <a:p>
            <a:pPr>
              <a:spcAft>
                <a:spcPts val="300"/>
              </a:spcAft>
            </a:pPr>
            <a:r>
              <a:rPr sz="1800" b="0" i="0">
                <a:solidFill>
                  <a:srgbClr val="1F2D3D"/>
                </a:solidFill>
                <a:latin typeface="Consolas"/>
              </a:rPr>
              <a:t>p_transition(i→j) = σ( score(i→j) 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11247120" cy="2322576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sim_sem  = cos( h_i , h_j )                              # 의미 유사도(인코더+GNN)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b_time   = −BIG  if  t_j &lt; t_i − ε   else  0             # 하드(역방향 금지, 비학습)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b_motion = −α · softplus( (req_speed − feas_speed) / β ) # 운동학 위반 소프트 벌점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b_state  = γ · log( C[s_i, s_j] + ε )                    # 상태 전이 호환성 행렬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b_rel    = δ · jaccard( 이웃관계_i , 이웃관계_j )          # 관계 이웃 중첩 (M2+)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b_src    = SrcBias[ src_i , src_j ]                      # 출처쌍 학습 바이어스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66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•  학습 파라미터: w₀, α, β(=exp(logβ)), γ, δ, 출처바이어스 표 — 전부 데이터로 학습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2C6FBB"/>
                </a:solidFill>
                <a:latin typeface="Malgun Gothic"/>
              </a:rPr>
              <a:t>•  enabled_terms로 각 항 on/off → ablation이 설정 변경만으로 가능. 본 실험: [sem,time,motion,state,rel,src] 전부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9-b. CTA 각 항의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sim_sem (의미)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인코더+GNN 임베딩의 코사인 — 같은 부대면 라벨·타입·관계맥락이 유사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b_time (시간)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후보는 전방시간만(t_i≤t_j); 역방향 전이는 −BIG로 사실상 금지(유일한 하드 제약)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b_motion (운동학)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요구속도가 가능속도를 넘으면 softplus 벌점 — Destroyed/Emplaced가 멀리 점프하는 오병합 억제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b_state (상태)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states.yaml의 비대칭 호환행렬 C — 예: Destroyed→이동 ≈0.01, Withdrawing→Occupying 낮음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b_rel (관계)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관계 이웃(술어+이벤트) 자카드 중첩 — 위치 모호 시 관계가 판별 신호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b_src (출처)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(출처_i, 출처_j) 쌍별 학습 바이어스 — 신뢰 높은 출처쌍의 정합을 우대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10. 정체성-궤적 디코더 (Sinkhorn 슬롯 정합)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2D3D"/>
                </a:solidFill>
                <a:latin typeface="Malgun Gothic"/>
              </a:rPr>
              <a:t>•  K개 학습가능 정체성 슬롯 + 1개 ∅(null) 슬롯. 관측을 Sinkhorn 정규화 어텐션으로 슬롯에 소프트 배정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CTA 전이확률로 이웃을 먼저 모아(컨텍스트) 강하게 연결된 관측이 같은 슬롯에 모이도록 유도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10972800" cy="1700784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h_ctx = h + σ(gate)·( Σ_j p_transition(i,j)·h_j  / Σ_j p_transition )   # CTA 컨텍스트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Z = ( q(h_ctx) · k([slots ; null])ᵀ ) / √d                              # (M, K+1) 로짓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A = Sinkhorn_row( Z / τ ) :  반복 [ 행 정규화 → 실슬롯 상대 열균형 ]      # 행합 = 1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1F2D3D"/>
                </a:solidFill>
                <a:latin typeface="Consolas"/>
              </a:rPr>
              <a:t>∅ 열은 균형서 제외 → dangling을 자유롭게 흡수.  디코드 = argmax_k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1F2D3D"/>
                </a:solidFill>
                <a:latin typeface="Malgun Gothic"/>
              </a:rPr>
              <a:t>•  슬롯 내 관측을 kg별로 묶으면 1:1 정체성↔정체성 정합, 시간정렬하면 궤적/전이 산출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555F6B"/>
                </a:solidFill>
                <a:latin typeface="Malgun Gothic"/>
              </a:rPr>
              <a:t>•  설정: num_slots=48, sinkhorn_iters=20, τ=0.5, col_strength=0.1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11. 예측 헤드 &amp; 손실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•  PairHead: [h_i, h_j, |h_i−h_j|, h_i·h_j, CTA(6), (Δt,dist,text_cos)] → MLP → 교차-KG same 로짓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•  DanglingHead: [h_o, (best/mean 후보로짓, 후보수, 최대유사도)] → MLP → 매칭불가 로짓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972800" cy="2322576"/>
          </a:xfrm>
          <a:prstGeom prst="rect">
            <a:avLst/>
          </a:prstGeom>
          <a:solidFill>
            <a:srgbClr val="F2F5F8"/>
          </a:solidFill>
          <a:ln w="12700">
            <a:solidFill>
              <a:srgbClr val="2C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1F2D3D"/>
                </a:solidFill>
                <a:latin typeface="Consolas"/>
              </a:rPr>
              <a:t>L = λ_pair·L_pair + λ_trans·L_trans + λ_traj·L_traj + λ_dang·L_dang + λ_assign·L_assign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1F2D3D"/>
                </a:solidFill>
                <a:latin typeface="Consolas"/>
              </a:rPr>
              <a:t>L_pair   = BCE( pair_logits , same? )         # 교차-KG 후보쌍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1F2D3D"/>
                </a:solidFill>
                <a:latin typeface="Consolas"/>
              </a:rPr>
              <a:t>L_trans  = BCE( CTA.score , 동일정체성? )       # gold 할당에서 유도(대규모: 페어목록 無)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1F2D3D"/>
                </a:solidFill>
                <a:latin typeface="Consolas"/>
              </a:rPr>
              <a:t>L_traj   = mean( σ(pair_logit) · max(0, req−feas) ) / 10   # 소프트 운동학 일관성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1F2D3D"/>
                </a:solidFill>
                <a:latin typeface="Consolas"/>
              </a:rPr>
              <a:t>L_dang   = BCE( dangling_logits , dangling? 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1F2D3D"/>
                </a:solidFill>
                <a:latin typeface="Consolas"/>
              </a:rPr>
              <a:t>L_assign = CE( Z , 정체성↔슬롯 정렬된 타깃슬롯 )  # ∅ 슬롯=dangling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•  가중치: λ_pair 2.0 · λ_trans 0.3 · λ_traj 0.5 · λ_dang 1.0 · λ_assign 2.0, pair_pos_weight 5.0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555F6B"/>
                </a:solidFill>
                <a:latin typeface="Malgun Gothic"/>
              </a:rPr>
              <a:t>•  L_assign은 Sinkhorn 할당(detach)에서 greedy 최대중첩으로 슬롯↔gold 정렬 후 관측별 교차엔트로피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12. 학습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Consolas"/>
              </a:rPr>
              <a:t>•  설정 파일: configs/cita_full_hill395.yaml (data_root=battlefield_hill395_large)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모델: Full CITA-Net — 인코더(d=128, 출처게이트) + RGAT(2-hop,4-head) + CTA(6항) + Sinkhorn 디코더(48슬롯)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최적화: Adam, lr 1e-3, grad-clip, 40 epoch, 매 epoch 전체 50 train 섹터 스트리밍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blocking: dt_max 180s, cell 400m, r_floor 80m, type_by_category=true, text_gate=false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F2D3D"/>
                </a:solidFill>
                <a:latin typeface="Malgun Gothic"/>
              </a:rPr>
              <a:t>•  학습 환경: 64-bit Python venv, CPU(torch 2.12 cpu), 약 45초/epoch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i="0">
                <a:solidFill>
                  <a:srgbClr val="2C6FBB"/>
                </a:solidFill>
                <a:latin typeface="Malgun Gothic"/>
              </a:rPr>
              <a:t>•  학습 곡선: 총손실 17.63 → 1.63, best dev-F1 0.693 (모든 손실항 안정 수렴)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2C6FBB"/>
                </a:solidFill>
                <a:latin typeface="Malgun Gothic"/>
              </a:rPr>
              <a:t>•  스트리밍: 한 번에 한 섹터만 featurize → peak memory ~16 MB (1M 트리플 suite)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13. 평가 지표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Precision / Recall / F1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예측 교차-KG 개체쌍 (e^A,e^B)을 정답쌍과 비교 (TP/예측, TP/정답, 조화평균)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Wrong-Merge Rate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한 예측 정체성이 2개 이상의 서로 다른 gold 정체성을 포함한 비율(오병합)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Fragmentation Rate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한 gold 정체성이 여러 슬롯으로 쪼개지거나 회수되지 못한 비율(단편화/미회수)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Trajectory Consistency / Impossible-Transition Rate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디코드된 궤적의 전이 중 운동학적으로 불가능한 비율과 그 여집합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2C6FBB"/>
                </a:solidFill>
                <a:latin typeface="Malgun Gothic"/>
              </a:rPr>
              <a:t>•  Dangling Precision / Recall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매칭불가(한쪽만 관측) 개체 탐지의 정밀도/재현율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14. 정량 결과 — dev / test 집계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51206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28016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dev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test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0.895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0.548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0.561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D3D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D3D"/>
                          </a:solidFill>
                          <a:latin typeface="Malgun Gothic"/>
                        </a:rPr>
                        <a:t>0.669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D3D"/>
                          </a:solidFill>
                          <a:latin typeface="Malgun Gothic"/>
                        </a:rPr>
                        <a:t>0.686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Wrong-merge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0.132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0.121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Fragmentation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0.685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Traj-consistency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0.757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0.754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Dangling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0.620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Dangling 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0.582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D3D"/>
                          </a:solidFill>
                          <a:latin typeface="Malgun Gothic"/>
                        </a:rPr>
                        <a:t>0.571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dev_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2896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512064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algun Gothic"/>
              </a:rPr>
              <a:t>•  test F1 0.686 · Precision 0.895 · Recall 0.561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•  고정밀(P≈0.9)·중회수(R≈0.56): 동일 type hard negative와 노이즈를 의도적으로 넣은 결과(정상)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15. 학습 곡선 &amp; 기존 large suite 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17</a:t>
            </a:r>
          </a:p>
        </p:txBody>
      </p:sp>
      <p:pic>
        <p:nvPicPr>
          <p:cNvPr id="4" name="Picture 3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28016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C6FBB"/>
                </a:solidFill>
                <a:latin typeface="Malgun Gothic"/>
              </a:rPr>
              <a:t>•  학습 수렴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총손실 17.63 → 1.63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best dev-F1 → 0.693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모든 손실항 안정 하강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•  기존 large suite 대비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baseline(README): F1~0.52 / P~0.80 / R~0.40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백마고지 test: F1 0.686 / P 0.895 / R 0.561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진영 내장 타입 + 충분한 epoch로 상회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555F6B"/>
                </a:solidFill>
                <a:latin typeface="Malgun Gothic"/>
              </a:rPr>
              <a:t>–  (baseline_compare.png 참조)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15-b. P/R/F1 비교 (baseline vs 백마고지)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18</a:t>
            </a:r>
          </a:p>
        </p:txBody>
      </p:sp>
      <p:pic>
        <p:nvPicPr>
          <p:cNvPr id="4" name="Picture 3" descr="baselin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76230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28016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•  회색 = 기존 large suite 참고치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•  빨강 = 백마고지 test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•  3개 지표 모두 상회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특히 Precision 0.80→0.90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1F2D3D"/>
                </a:solidFill>
                <a:latin typeface="Malgun Gothic"/>
              </a:rPr>
              <a:t>–  Recall 0.40→0.56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16. 섹터별 정밀도/재현율/F1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19</a:t>
            </a:r>
          </a:p>
        </p:txBody>
      </p:sp>
      <p:pic>
        <p:nvPicPr>
          <p:cNvPr id="4" name="Picture 3" descr="per_sector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F6B"/>
                </a:solidFill>
                <a:latin typeface="Malgun Gothic"/>
              </a:rPr>
              <a:t>25개 dev+test 섹터별 성능 — 막대=F1, 선=precision/recall (점선 좌측 dev, 우측 test)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17. 정성 결과 — 사례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766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C6FBB"/>
                </a:solidFill>
                <a:latin typeface="Malgun Gothic"/>
              </a:rPr>
              <a:t>•  ✅ 올바른 병합 (예)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1F2D3D"/>
                </a:solidFill>
                <a:latin typeface="Malgun Gothic"/>
              </a:rPr>
              <a:t>–  [KG-A] 중공군 침투조(CCF_Infantry, VISUAL/RADAR) ↔ [KG-B] 중공군 잔존대(CCF_Infantry, AERIAL/SIGINT) — 동일 실체 정합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1F2D3D"/>
                </a:solidFill>
                <a:latin typeface="Malgun Gothic"/>
              </a:rPr>
              <a:t>–  [KG-A] quad-50 대공포 ↔ [KG-B] quad-.50 — 확신도 1.0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•  ❌ 잘못된 병합 (예)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1F2D3D"/>
                </a:solidFill>
                <a:latin typeface="Malgun Gothic"/>
              </a:rPr>
              <a:t>–  동일 진영·동일 type 보병 소부대 간 오병합이 다수 (hard negative)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1F2D3D"/>
                </a:solidFill>
                <a:latin typeface="Malgun Gothic"/>
              </a:rPr>
              <a:t>–  단, 오병합은 확신도가 낮음(0.04~0.4) → 모델이 불확실해함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555F6B"/>
                </a:solidFill>
                <a:latin typeface="Malgun Gothic"/>
              </a:rPr>
              <a:t>•  ✂️ 단편화 / 🚫 dangling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1F2D3D"/>
                </a:solidFill>
                <a:latin typeface="Malgun Gothic"/>
              </a:rPr>
              <a:t>–  불확실하면 합치지 않고 abstain → 정밀도 우선, 재현율 손실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1F2D3D"/>
                </a:solidFill>
                <a:latin typeface="Malgun Gothic"/>
              </a:rPr>
              <a:t>–  한쪽 KG만 본 부대를 dangling으로 다수 정탐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2C6FBB"/>
                </a:solidFill>
                <a:latin typeface="Malgun Gothic"/>
              </a:rPr>
              <a:t>•  결론: hard negative가 실제로 어려운 케이스로 작동, 모델은 보수적</a:t>
            </a:r>
          </a:p>
        </p:txBody>
      </p:sp>
      <p:pic>
        <p:nvPicPr>
          <p:cNvPr id="5" name="Picture 4" descr="typ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572000" cy="243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F6B"/>
                </a:solidFill>
                <a:latin typeface="Malgun Gothic"/>
              </a:rPr>
              <a:t>오병합이 잦은 타입쌍 — 동일 진영 보병에 집중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18. 결론 &amp;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BBCC"/>
                </a:solidFill>
                <a:latin typeface="Malgun Gothic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2C6FBB"/>
                </a:solidFill>
                <a:latin typeface="Malgun Gothic"/>
              </a:rPr>
              <a:t>•  기여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백마고지 사료 기반 100만 트리플 전장 STKG를 CITA-Net 관측형으로 구축(드롭인) — 코드 변경 최소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의미·시공간·운동학·상태·관계·출처 제약을 CTA 한 모듈에 통합, Sinkhorn 슬롯 디코더로 군집+dangling 동시 처리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test F1 0.686 / P 0.895 — 기존 large suite 대비 향상, 고정밀·견고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 i="0">
                <a:solidFill>
                  <a:srgbClr val="2C6FBB"/>
                </a:solidFill>
                <a:latin typeface="Malgun Gothic"/>
              </a:rPr>
              <a:t>•  관찰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오류는 동일 진영·동일 기능 소부대(hard negative)에 집중, 모델은 불확실 시 보수적 abstain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Malgun Gothic"/>
              </a:rPr>
              <a:t>•  향후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재현율 향상(λ·블로킹·텍스트 인코더 튜닝), 원본 reified 이벤트-KG 충실 재현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GeoSPARQL·OWL-Time·SKOS 표현으로 KG 병합/추론(누가 crest를 통제? 등) 실험 확장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0" i="0">
                <a:solidFill>
                  <a:srgbClr val="1F2D3D"/>
                </a:solidFill>
                <a:latin typeface="Malgun Gothic"/>
              </a:rPr>
              <a:t>–  실제 좌표 기반 시각화·지도 오버레이로 작전 해석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